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73" r:id="rId24"/>
    <p:sldId id="258" r:id="rId4"/>
    <p:sldId id="259" r:id="rId5"/>
    <p:sldId id="268" r:id="rId19"/>
    <p:sldId id="269" r:id="rId20"/>
    <p:sldId id="260" r:id="rId6"/>
    <p:sldId id="270" r:id="rId21"/>
    <p:sldId id="271" r:id="rId22"/>
    <p:sldId id="261" r:id="rId7"/>
    <p:sldId id="272" r:id="rId23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26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1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9682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Коротко: я посмотрела ваш сайт и Instagram и собрала, как «Лесная ягодка» может продавать партии без ручной рутины. Займёт 10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Говорить спокойно, без критики её работы: продукт сильный, проблема в инструменте.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проценты — осторожные предположения. Час Марины считаю в 2 000 ₽. Попросить её реальные цифры: заказы в месяц, средний чек, часы на рутину.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Вместо нарисованного телефона можно вставить скриншот макета главной.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количество она вносит один раз при создании партии, дальше всё работает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Такого нет ни у одного конструктора сайтов — главный аргумент за верхний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Эмоциональный слайд. Пауза после него.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средний вариант. Верхний — якорь и выбор тех, кому важны деньги.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снимает страх большой суммы. Для холодного контакта — главный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ДЛЯ МАРИНЫ КОТЮКОВОЙ · «ЛЕСНАЯ ЯГОДКА»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Партии продаются </a:t>
            </a:r>
            <a:r>
              <a:rPr lang="en-US" sz="60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сами</a:t>
            </a: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6000" dirty="0"/>
          </a:p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вечера снова ваши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сайт и админка, собранные вокруг того, как вы работаете: партии в 18:00, «нет в наличии», ручная работа.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[Ваше имя]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714232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УВИДЕЛА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Людей тянет к вам. Сайт их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«Нет в наличии» — тупик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пришёл из reels, вкуса нет, записаться некуда. Он уходит и не возвращается.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ссылок на Telegram и соцсети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главной их нет. Кому не хватило партии, тому негде подписаться, чтобы узнать о следующей.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не рассказана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за что вас любят сотни тысяч подписчиков, на сайте занимает один абзац.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Юридические риски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до согласия, согласие не отдельным документом, в политике нет ИНН и почты для обращений. Подробно — на следующем слайде.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ЭТО СТОИТ СЕЙЧАС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Время = Деньги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млн ₽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при 300 заказах в месяц и среднем чеке 2 000 ₽.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посчитаем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на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ваших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цифрах</a:t>
            </a:r>
            <a:r>
              <a:rPr lang="ru-RU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если захотите.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5508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0" y="1779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Заказы, ушедшие на «нет в </a:t>
            </a:r>
            <a:r>
              <a:rPr lang="en-US" sz="15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наличии</a:t>
            </a: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r>
              <a:rPr lang="ru-RU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забывшие про ваше производство, хотя заказать хотели по импульсу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заказов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19659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580 000 ₽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0" y="297180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без наборов и порога доставки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 к чеку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20040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500 000 ₽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0" y="42062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0" y="4389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время на рутину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ч в неделю, −70%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4348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1 100 000 ₽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544068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БУДЕТ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Спокойный сайт, в котором узнают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Разобрали — «Записаться», появился вкус — ссылка на оплату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и «почему нет в наличии» вашими словами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живые кадры из вашего 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по закону: согласия, cookies, данные в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России</a:t>
            </a:r>
            <a:endParaRPr lang="ru-RU" sz="1700" dirty="0">
              <a:solidFill>
                <a:srgbClr val="2A2A2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7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Индексация для браузера это дополнительная возможность привлечь крупные заказы и людей которые готовы платить больше.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3108960" cy="5486400"/>
          </a:xfrm>
          <a:prstGeom prst="rect">
            <a:avLst/>
          </a:prstGeom>
          <a:solidFill>
            <a:srgbClr val="F6F3EE"/>
          </a:solidFill>
          <a:ln w="15875">
            <a:solidFill>
              <a:srgbClr val="2A2A2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412480" y="777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Лесная ягодка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0" y="804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Марина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0" y="1188720"/>
            <a:ext cx="310896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0" y="1371600"/>
            <a:ext cx="2743200" cy="1737360"/>
          </a:xfrm>
          <a:prstGeom prst="rect">
            <a:avLst/>
          </a:prstGeom>
          <a:solidFill>
            <a:srgbClr val="56604A"/>
          </a:solidFill>
          <a:ln w="12700">
            <a:solidFill>
              <a:srgbClr val="56604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503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кадр: корзина ягод в лесу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Дары псковских </a:t>
            </a:r>
            <a:r>
              <a:rPr lang="en-US" sz="22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лесов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малиновый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4251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466344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4754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голубичный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4754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solidFill>
            <a:srgbClr val="4A6B3A"/>
          </a:solidFill>
          <a:ln w="12700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КАТАЛОГ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000250"/>
            <a:ext cx="1365250" cy="2857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739900"/>
            <a:ext cx="1485900" cy="3117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ПОКУПАТЕЛЬ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 покупатель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Товары, цены, вес, состав и срок годности с вашего сайта. Количества и заказы для примера.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Главная в день партии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Видно, сколько осталось. Партия закончилась, продажа закрылась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Все сведения о продукте по закону. Без них товар не опубликуется.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Оформление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Отдельное согласие без отметки заранее, СДЭК на карте, чек на почту.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разобрана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Вместо «нет в наличии» очередь и одно сообщение об открытии.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24000"/>
            <a:ext cx="1587500" cy="33401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750" y="1524000"/>
            <a:ext cx="1587500" cy="3340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00" y="1524000"/>
            <a:ext cx="1587500" cy="3340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650" y="1524000"/>
            <a:ext cx="1587500" cy="3340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1524000"/>
            <a:ext cx="1587500" cy="3340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7550" y="1524000"/>
            <a:ext cx="1587500" cy="3340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ОФОРМЛЕНИЕ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Оформление может быть любым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2200" y="609600"/>
            <a:ext cx="3937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Ваш экран с товарами и ценами в десяти стилях: здесь шесть, все десять — в отдельном файле. Выбираете вы, я довожу стиль до всего сайта.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Лесной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Лён, мох, антиква. Спокойно, как журнал о еде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7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Ягодный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Тёплый цвет, мягкие карточки, сочные фото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7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Журнальный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07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Чёрно-белый, как меню: цифры и линейки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6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Фермерский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6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Крафт и рукописный шрифт, как лавка в деревне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Тёмная тема и золото для подарков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75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Яркий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75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Крупный гротеск и цветные блоки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день: до и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25912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новой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Утро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Отвечать в директ «когда малина?»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Записавшимся придёт сообщение само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День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 и треки вручную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«Собрано» — накладные и треки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Выкладывать партию и пост руками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Вечер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Считать, что варить завтра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отчёт в 21:00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Гадать, какой вкус зарабатывает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каждому вкусу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000250"/>
            <a:ext cx="1365250" cy="2857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400300"/>
            <a:ext cx="1416050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ВЫ И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увидите вы и 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Экраны админки тоже для телефона: партию можно открыть прямо из цеха.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с телефона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Один раз указали мощность цеха и время, дальше сайт всё делает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Экран упаковщика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Только свои заказы, накладная СДЭК готова, наклейки с датой кнопкой.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Сводка в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Одно сообщение в конце дня вместо сотни уведомлений.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Финансы, по желанию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Выручка из оплат сама, себестоимость из закупок. Отдельный модуль.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300" y="1524000"/>
            <a:ext cx="6635750" cy="469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558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АДМИНКА НА КОМПЬЮТЕРЕ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50900"/>
            <a:ext cx="1056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Экран «Сегодня»: всё, что нужно знать за день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Впервые видно, сколько зарабатывает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вкус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техкарте: ягода, пюре, агар, упаковка, работа. Считается сама на каждую коробку.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28744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748784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48784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вкусу, партии и месяцу. Минус доставка и эквайринг.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5968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446008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бухгалтера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6008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Расходы, оценка налога, сверка оплат и выгрузка одним файлом.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12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управленческий учёт: бухгалтер остаётся, но получает готовые данные.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000250"/>
            <a:ext cx="1365250" cy="2857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ПРИМЕРЫ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ещё можно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Идеи на вашем ассортименте. Каждая пишется отдельным модулем, если она вам нужна.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Подарочная коробка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Покупатель сам собирает набор из вкусов текущей партии и пишет открытку. Цена считается сразу.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Кабинет для опта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Раздел для зарегистрированных покупателей на сайте уже есть. Из него выйдет кабинет партнёров: своя цена и счёт для юрлица.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Подписка на партию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Постоянные покупатели бронируют место в каждой партии, вы заранее знаете объём.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Магазин и курсы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Связка lesnaya-yagodka.ru и zefirfly.com: общий профиль, покупатели находят и зефир, и курсы.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6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СТРАХОВКА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 покупатели должны быть </a:t>
            </a:r>
            <a:r>
              <a:rPr lang="en-US" sz="54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вашими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C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в России заблокирован, Telegram замедляют. Сайт собирает свою базу: Telegram, email и телефоны. Что бы ни случилось с соцсетями, вы достучитесь до покупателей в любой момент.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Насколько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свободной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быть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65176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Витрина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58403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42378" y="3974113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дизайн «Лесной»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каталога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Оплата, чеки, СДЭК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Согласия и cookies</a:t>
            </a:r>
            <a:endParaRPr lang="ru-RU" sz="1400" dirty="0">
              <a:solidFill>
                <a:srgbClr val="5E5D5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Месяц 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2148840"/>
            <a:ext cx="3392424" cy="3931920"/>
          </a:xfrm>
          <a:prstGeom prst="rect">
            <a:avLst/>
          </a:prstGeom>
          <a:solidFill>
            <a:srgbClr val="F6F3EE"/>
          </a:solidFill>
          <a:ln w="28575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718304" y="2377440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на автопилоте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259085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90 000 ₽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663713" y="386658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«Витрины»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Виды автоматизаций выставления наличия и других утвержденных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Цех, этикетки, СДЭК пачкой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Сообщения и Telegram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en-US" sz="14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</a:t>
            </a: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85048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и деньги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85048" y="322326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330457" y="3822795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«Лавки»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Подумаем как можно повысить выручку и прийти желанным 7 миллионам через автоматизацию и налаживание рутины чтобы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r>
              <a:rPr lang="en-US" sz="14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месяцев</a:t>
            </a: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5293" y="1857347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частями: 40%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старте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 подписании договора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утверждении конечном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при запуске · Лесная ягодка · 14</a:t>
            </a: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F208F7-B3A7-17CE-4B96-460A18DA4596}"/>
              </a:ext>
            </a:extLst>
          </p:cNvPr>
          <p:cNvSpPr txBox="1"/>
          <p:nvPr/>
        </p:nvSpPr>
        <p:spPr>
          <a:xfrm>
            <a:off x="895293" y="6015420"/>
            <a:ext cx="949997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желании можно собрать своего «трансформера» из штук которые вы хотите чтобы были на вашем сайте, а не просто тарифами, по цене проконсультирую отдельно</a:t>
            </a:r>
            <a:endParaRPr lang="en-A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НАЧАТЬ С МАЛОГО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Старт: дизайн и прототип на </a:t>
            </a:r>
            <a:r>
              <a:rPr lang="en-US" sz="5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вашем</a:t>
            </a: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каталоге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60 000 ₽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3840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 недели: макеты главной, каталога и карточки, тексты вашим голосом. Идём дальше — сумма засчитывается в проект. Нет — макеты остаются у вас.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19" y="1005840"/>
            <a:ext cx="51870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Успеть к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новогодним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подаркам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— месяц с самым большим чеком: наборы и корпоративные заказы. Чтобы встретить его на новом сайте, начинать нужно в октябре.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0058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0700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Созвон, фото и reels, перенос каталога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6712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Макеты и тексты, ваши правки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9260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3–6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12724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Сайт, админка, оплата, СДЭК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069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08736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заказы, обучение команды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4846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21792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504748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Запуск. Старый сайт работает до последнего дня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58064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16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часа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весь проект. Остальное делаю 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473504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631478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/переписка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партии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подписание договора, предоставление необходимых доступов для разработки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238232" y="183721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 ч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560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78892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фото и reels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360152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мин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33832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61188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макетов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(черновой и финальный перед началом разработки)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360152" y="3611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43484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дать мне список с никами кого и чему обучить, </a:t>
            </a:r>
            <a:r>
              <a:rPr lang="ru-RU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предкпредить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что я буду писать. дальше я справлюсь сама. И вас научу отдельно если файликов которые я пришлю с инструкциями не хватит/формат не подойдет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4434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096000" y="6366681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17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минут, чтобы решить, </a:t>
            </a:r>
            <a:r>
              <a:rPr lang="en-US" sz="56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подходит ли</a:t>
            </a: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это вам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Покажу прототип сайта и админки на вашем каталоге и отвечу на вопросы. Ни к чему не </a:t>
            </a:r>
            <a:r>
              <a:rPr lang="en-US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обязывает</a:t>
            </a: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Примеры того как может выглядеть ваш сайт и </a:t>
            </a:r>
            <a:r>
              <a:rPr lang="ru-RU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админская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панель прислала отдельными файлами для удобства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Telegram: @</a:t>
            </a:r>
            <a:r>
              <a:rPr lang="en-US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Ellischment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85432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Василиса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 · ЧТО НА САЙТЕ СЕЙЧАС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Юридические риски подробно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3</a:t>
            </a:r>
            <a:endParaRPr lang="en-US" sz="1100" dirty="0"/>
          </a:p>
        </p:txBody>
      </p:sp>
      <p:sp>
        <p:nvSpPr>
          <p:cNvPr id="101" name="Legal 0-0"/>
          <p:cNvSpPr/>
          <p:nvPr/>
        </p:nvSpPr>
        <p:spPr>
          <a:xfrm>
            <a:off x="731520" y="201168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2" name="Legal 0-109728"/>
          <p:cNvSpPr txBox="1"/>
          <p:nvPr/>
        </p:nvSpPr>
        <p:spPr>
          <a:xfrm>
            <a:off x="731520" y="2121408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Согласие не отдельным документом</a:t>
            </a:r>
            <a:endParaRPr lang="en-US" sz="1800" dirty="0"/>
          </a:p>
        </p:txBody>
      </p:sp>
      <p:sp>
        <p:nvSpPr>
          <p:cNvPr id="103" name="Legal 0-402336"/>
          <p:cNvSpPr txBox="1"/>
          <p:nvPr/>
        </p:nvSpPr>
        <p:spPr>
          <a:xfrm>
            <a:off x="731520" y="2414016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Галочка в корзине ведёт на оферту и политику. С 1.09.2025 согласие — отдельный текст. Штраф 300–700 тыс. ₽.</a:t>
            </a:r>
            <a:endParaRPr lang="en-US" sz="1500" dirty="0"/>
          </a:p>
        </p:txBody>
      </p:sp>
      <p:sp>
        <p:nvSpPr>
          <p:cNvPr id="104" name="Legal 1-0"/>
          <p:cNvSpPr/>
          <p:nvPr/>
        </p:nvSpPr>
        <p:spPr>
          <a:xfrm>
            <a:off x="731520" y="3044952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5" name="Legal 1-109728"/>
          <p:cNvSpPr txBox="1"/>
          <p:nvPr/>
        </p:nvSpPr>
        <p:spPr>
          <a:xfrm>
            <a:off x="731520" y="315468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до согласия</a:t>
            </a:r>
            <a:endParaRPr lang="en-US" sz="1800" dirty="0"/>
          </a:p>
        </p:txBody>
      </p:sp>
      <p:sp>
        <p:nvSpPr>
          <p:cNvPr id="106" name="Legal 1-402336"/>
          <p:cNvSpPr txBox="1"/>
          <p:nvPr/>
        </p:nvSpPr>
        <p:spPr>
          <a:xfrm>
            <a:off x="731520" y="3447288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с Вебвизором включается сразу, до согласия на cookie. В политике о ней ничего нет.</a:t>
            </a:r>
            <a:endParaRPr lang="en-US" sz="1500" dirty="0"/>
          </a:p>
        </p:txBody>
      </p:sp>
      <p:sp>
        <p:nvSpPr>
          <p:cNvPr id="107" name="Legal 2-0"/>
          <p:cNvSpPr/>
          <p:nvPr/>
        </p:nvSpPr>
        <p:spPr>
          <a:xfrm>
            <a:off x="731520" y="4078224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8" name="Legal 2-109728"/>
          <p:cNvSpPr txBox="1"/>
          <p:nvPr/>
        </p:nvSpPr>
        <p:spPr>
          <a:xfrm>
            <a:off x="731520" y="4187952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политике нет ИНН и почты для обращений</a:t>
            </a:r>
            <a:endParaRPr lang="en-US" sz="1800" dirty="0"/>
          </a:p>
        </p:txBody>
      </p:sp>
      <p:sp>
        <p:nvSpPr>
          <p:cNvPr id="109" name="Legal 2-402336"/>
          <p:cNvSpPr txBox="1"/>
          <p:nvPr/>
        </p:nvSpPr>
        <p:spPr>
          <a:xfrm>
            <a:off x="731520" y="4480560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даты и cookie. Написано, что данные не передаются третьим лицам, а заказы едут через СДЭК.</a:t>
            </a:r>
            <a:endParaRPr lang="en-US" sz="1500" dirty="0"/>
          </a:p>
        </p:txBody>
      </p:sp>
      <p:sp>
        <p:nvSpPr>
          <p:cNvPr id="110" name="Legal 3-0"/>
          <p:cNvSpPr/>
          <p:nvPr/>
        </p:nvSpPr>
        <p:spPr>
          <a:xfrm>
            <a:off x="731520" y="5111496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1" name="Legal 3-109728"/>
          <p:cNvSpPr txBox="1"/>
          <p:nvPr/>
        </p:nvSpPr>
        <p:spPr>
          <a:xfrm>
            <a:off x="731520" y="5221224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сказано, где хранятся данные</a:t>
            </a:r>
            <a:endParaRPr lang="en-US" sz="1800" dirty="0"/>
          </a:p>
        </p:txBody>
      </p:sp>
      <p:sp>
        <p:nvSpPr>
          <p:cNvPr id="112" name="Legal 3-402336"/>
          <p:cNvSpPr txBox="1"/>
          <p:nvPr/>
        </p:nvSpPr>
        <p:spPr>
          <a:xfrm>
            <a:off x="731520" y="5513832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1.07.2025 базы с данными россиян — только в России. Штраф до 6 млн ₽, повторно до 18 млн.</a:t>
            </a:r>
            <a:endParaRPr lang="en-US" sz="1500" dirty="0"/>
          </a:p>
        </p:txBody>
      </p:sp>
      <p:sp>
        <p:nvSpPr>
          <p:cNvPr id="113" name="Legal 4-0"/>
          <p:cNvSpPr/>
          <p:nvPr/>
        </p:nvSpPr>
        <p:spPr>
          <a:xfrm>
            <a:off x="6368796" y="201168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4" name="Legal 4-109728"/>
          <p:cNvSpPr txBox="1"/>
          <p:nvPr/>
        </p:nvSpPr>
        <p:spPr>
          <a:xfrm>
            <a:off x="6368796" y="2121408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контактов для претензий</a:t>
            </a:r>
            <a:endParaRPr lang="en-US" sz="1800" dirty="0"/>
          </a:p>
        </p:txBody>
      </p:sp>
      <p:sp>
        <p:nvSpPr>
          <p:cNvPr id="115" name="Legal 4-402336"/>
          <p:cNvSpPr txBox="1"/>
          <p:nvPr/>
        </p:nvSpPr>
        <p:spPr>
          <a:xfrm>
            <a:off x="6368796" y="2414016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оферте нет почты и телефона продавца и порядка претензий. Этого требуют Правила продажи № 657.</a:t>
            </a:r>
            <a:endParaRPr lang="en-US" sz="1500" dirty="0"/>
          </a:p>
        </p:txBody>
      </p:sp>
      <p:sp>
        <p:nvSpPr>
          <p:cNvPr id="116" name="Legal 5-0"/>
          <p:cNvSpPr/>
          <p:nvPr/>
        </p:nvSpPr>
        <p:spPr>
          <a:xfrm>
            <a:off x="6368796" y="3044952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7" name="Legal 5-109728"/>
          <p:cNvSpPr txBox="1"/>
          <p:nvPr/>
        </p:nvSpPr>
        <p:spPr>
          <a:xfrm>
            <a:off x="6368796" y="315468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Запрет отказаться от товара</a:t>
            </a:r>
            <a:endParaRPr lang="en-US" sz="1800" dirty="0"/>
          </a:p>
        </p:txBody>
      </p:sp>
      <p:sp>
        <p:nvSpPr>
          <p:cNvPr id="118" name="Legal 5-402336"/>
          <p:cNvSpPr txBox="1"/>
          <p:nvPr/>
        </p:nvSpPr>
        <p:spPr>
          <a:xfrm>
            <a:off x="6368796" y="3447288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оферте: «Покупатель не имеет права отказаться от получения товара». По закону вправе до передачи (ЗоЗПП ст. 26.1).</a:t>
            </a:r>
            <a:endParaRPr lang="en-US" sz="1500" dirty="0"/>
          </a:p>
        </p:txBody>
      </p:sp>
      <p:sp>
        <p:nvSpPr>
          <p:cNvPr id="119" name="Legal 6-0"/>
          <p:cNvSpPr/>
          <p:nvPr/>
        </p:nvSpPr>
        <p:spPr>
          <a:xfrm>
            <a:off x="6368796" y="4078224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0" name="Legal 6-109728"/>
          <p:cNvSpPr txBox="1"/>
          <p:nvPr/>
        </p:nvSpPr>
        <p:spPr>
          <a:xfrm>
            <a:off x="6368796" y="4187952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все сведения о продуктах</a:t>
            </a:r>
            <a:endParaRPr lang="en-US" sz="1800" dirty="0"/>
          </a:p>
        </p:txBody>
      </p:sp>
      <p:sp>
        <p:nvSpPr>
          <p:cNvPr id="121" name="Legal 6-402336"/>
          <p:cNvSpPr txBox="1"/>
          <p:nvPr/>
        </p:nvSpPr>
        <p:spPr>
          <a:xfrm>
            <a:off x="6368796" y="4480560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Состав, вес и срок есть. Нет условий хранения и пищевой ценности, хотя закон их требует (ЗоЗПП ст. 10).</a:t>
            </a:r>
            <a:endParaRPr lang="en-US" sz="1500" dirty="0"/>
          </a:p>
        </p:txBody>
      </p:sp>
      <p:sp>
        <p:nvSpPr>
          <p:cNvPr id="122" name="Legal 7-0"/>
          <p:cNvSpPr/>
          <p:nvPr/>
        </p:nvSpPr>
        <p:spPr>
          <a:xfrm>
            <a:off x="6368796" y="5111496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3" name="Legal 7-109728"/>
          <p:cNvSpPr txBox="1"/>
          <p:nvPr/>
        </p:nvSpPr>
        <p:spPr>
          <a:xfrm>
            <a:off x="6368796" y="5221224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Проверим на созвоне</a:t>
            </a:r>
            <a:endParaRPr lang="en-US" sz="1800" dirty="0"/>
          </a:p>
        </p:txBody>
      </p:sp>
      <p:sp>
        <p:nvSpPr>
          <p:cNvPr id="124" name="Legal 7-402336"/>
          <p:cNvSpPr txBox="1"/>
          <p:nvPr/>
        </p:nvSpPr>
        <p:spPr>
          <a:xfrm>
            <a:off x="6368796" y="5513832"/>
            <a:ext cx="5088636" cy="58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Уведомление в реестре Роскомнадзора, чеки по 54-ФЗ и куда Tilda отправляет данные из корзины.</a:t>
            </a:r>
            <a:endParaRPr lang="en-US" sz="1500" dirty="0"/>
          </a:p>
        </p:txBody>
      </p:sp>
      <p:sp>
        <p:nvSpPr>
          <p:cNvPr id="200" name="Sources"/>
          <p:cNvSpPr txBox="1"/>
          <p:nvPr/>
        </p:nvSpPr>
        <p:spPr>
          <a:xfrm>
            <a:off x="4572000" y="6263640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152-ФЗ, КоАП ст. 13.11, ЗоЗПП, ПП № 657. Проверено по lesnaya-yagodka.ru, сентябрь 2026.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1118</Words>
  <Application>Microsoft Office PowerPoint</Application>
  <PresentationFormat>Широкоэкранный</PresentationFormat>
  <Paragraphs>163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Лесная ягодка на автопилоте</dc:title>
  <dc:subject>PptxGenJS Presentation</dc:subject>
  <dc:creator>PptxGenJS</dc:creator>
  <cp:lastModifiedBy>Mi</cp:lastModifiedBy>
  <cp:revision>2</cp:revision>
  <dcterms:created xsi:type="dcterms:W3CDTF">2026-09-25T12:16:46Z</dcterms:created>
  <dcterms:modified xsi:type="dcterms:W3CDTF">2026-09-25T19:32:51Z</dcterms:modified>
</cp:coreProperties>
</file>