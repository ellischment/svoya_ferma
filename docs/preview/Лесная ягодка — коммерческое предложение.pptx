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74" r:id="rId25"/>
    <p:sldId id="257" r:id="rId3"/>
    <p:sldId id="273" r:id="rId24"/>
    <p:sldId id="258" r:id="rId4"/>
    <p:sldId id="259" r:id="rId5"/>
    <p:sldId id="268" r:id="rId19"/>
    <p:sldId id="269" r:id="rId20"/>
    <p:sldId id="260" r:id="rId6"/>
    <p:sldId id="270" r:id="rId21"/>
    <p:sldId id="271" r:id="rId22"/>
    <p:sldId id="261" r:id="rId7"/>
    <p:sldId id="272" r:id="rId23"/>
    <p:sldId id="262" r:id="rId8"/>
    <p:sldId id="275" r:id="rId26"/>
    <p:sldId id="276" r:id="rId27"/>
    <p:sldId id="277" r:id="rId2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226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8.xml"/><Relationship Id="rId7" Type="http://schemas.openxmlformats.org/officeDocument/2006/relationships/slide" Target="slides/slide11.xml"/><Relationship Id="rId8" Type="http://schemas.openxmlformats.org/officeDocument/2006/relationships/slide" Target="slides/slide13.xml"/><Relationship Id="rId9" Type="http://schemas.openxmlformats.org/officeDocument/2006/relationships/slide" Target="slides/slide14.xml"/><Relationship Id="rId10" Type="http://schemas.openxmlformats.org/officeDocument/2006/relationships/slide" Target="slides/slide15.xml"/><Relationship Id="rId11" Type="http://schemas.openxmlformats.org/officeDocument/2006/relationships/slide" Target="slides/slide16.xml"/><Relationship Id="rId12" Type="http://schemas.openxmlformats.org/officeDocument/2006/relationships/slide" Target="slides/slide17.xml"/><Relationship Id="rId13" Type="http://schemas.openxmlformats.org/officeDocument/2006/relationships/slide" Target="slides/slide18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2.xml"/><Relationship Id="rId24" Type="http://schemas.openxmlformats.org/officeDocument/2006/relationships/slide" Target="slides/slide3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9682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Коротко: я посмотрела ваш сайт и Instagram и собрала, как «Лесная ягодка» может продавать партии без ручной рутины. Займёт 10 минут.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Говорить спокойно, без критики её работы: продукт сильный, проблема в инструменте.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Все проценты — осторожные предположения. Час Марины считаю в 2 000 ₽. Попросить её реальные цифры: заказы в месяц, средний чек, часы на рутину.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Вместо нарисованного телефона можно вставить скриншот макета главной.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Ключевая мысль: количество она вносит один раз при создании партии, дальше всё работает само.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Такого нет ни у одного конструктора сайтов — главный аргумент за верхний вариант.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Эмоциональный слайд. Пауза после него.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Продаём средний вариант. Верхний — якорь и выбор тех, кому важны деньги.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снимает страх большой суммы. Для холодного контакта — главный слайд.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A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C9D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ПРЕДЛОЖЕНИЕ ДЛЯ МАРИНЫ КОТЮКОВОЙ · «ЛЕСНАЯ ЯГОДКА»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10058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dirty="0">
                <a:solidFill>
                  <a:srgbClr val="F6F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Партии продаются </a:t>
            </a:r>
            <a:r>
              <a:rPr lang="en-US" sz="6000" i="1" dirty="0">
                <a:solidFill>
                  <a:srgbClr val="F6F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сами</a:t>
            </a:r>
            <a:r>
              <a:rPr lang="en-US" sz="6000" dirty="0">
                <a:solidFill>
                  <a:srgbClr val="F6F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</a:t>
            </a:r>
            <a:endParaRPr lang="en-US" sz="6000" dirty="0"/>
          </a:p>
          <a:p>
            <a:pPr marL="0" indent="0">
              <a:buNone/>
            </a:pPr>
            <a:r>
              <a:rPr lang="en-US" sz="6000" dirty="0">
                <a:solidFill>
                  <a:srgbClr val="F6F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 вечера снова ваши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2976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DCE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Новый сайт и админка, собранные вокруг того, как вы работаете: партии в 18:00, «нет в наличии», ручная работа.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943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i="1" dirty="0">
                <a:solidFill>
                  <a:srgbClr val="C9D4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Василиса Попова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714232" y="6035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C9D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сентябрь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E7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4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Я УВИДЕЛА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05840"/>
            <a:ext cx="107259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dirty="0">
                <a:solidFill>
                  <a:srgbClr val="2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Людей тянет к вам. Сайт их </a:t>
            </a:r>
            <a:r>
              <a:rPr lang="en-US" sz="4000" i="1" dirty="0">
                <a:solidFill>
                  <a:srgbClr val="4A6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теряет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2377440"/>
            <a:ext cx="5088636" cy="0"/>
          </a:xfrm>
          <a:prstGeom prst="line">
            <a:avLst/>
          </a:prstGeom>
          <a:noFill/>
          <a:ln w="9525">
            <a:solidFill>
              <a:srgbClr val="B9B3A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31520" y="2560320"/>
            <a:ext cx="50886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«Нет в наличии» — тупик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017520"/>
            <a:ext cx="50886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Человек пришёл из reels, вкуса нет, записаться некуда. Он уходит и не возвращается.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68796" y="2377440"/>
            <a:ext cx="5088636" cy="0"/>
          </a:xfrm>
          <a:prstGeom prst="line">
            <a:avLst/>
          </a:prstGeom>
          <a:noFill/>
          <a:ln w="9525">
            <a:solidFill>
              <a:srgbClr val="B9B3A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368796" y="2560320"/>
            <a:ext cx="50886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ссылок на Telegram и соцсети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368796" y="3017520"/>
            <a:ext cx="50886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главной их нет. Кому не хватило партии, тому негде подписаться, чтобы узнать о следующей.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4206240"/>
            <a:ext cx="5088636" cy="0"/>
          </a:xfrm>
          <a:prstGeom prst="line">
            <a:avLst/>
          </a:prstGeom>
          <a:noFill/>
          <a:ln w="9525">
            <a:solidFill>
              <a:srgbClr val="B9B3A8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731520" y="4389120"/>
            <a:ext cx="50886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Ваша история не рассказана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846320"/>
            <a:ext cx="50886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То, за что вас любят сотни тысяч подписчиков, на сайте занимает один абзац.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68796" y="4206240"/>
            <a:ext cx="5088636" cy="0"/>
          </a:xfrm>
          <a:prstGeom prst="line">
            <a:avLst/>
          </a:prstGeom>
          <a:noFill/>
          <a:ln w="9525">
            <a:solidFill>
              <a:srgbClr val="B9B3A8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368796" y="4389120"/>
            <a:ext cx="50886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Юридические риски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368796" y="4846320"/>
            <a:ext cx="50886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Метрика до согласия, согласие не отдельным документом, в политике нет ИНН и почты для обращений. Подробно — на следующем слайде.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6263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Лесная ягодка ·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731520" y="64008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4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ЗАКОН · ЧТО НА САЙТЕ СЕЙЧАС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05840"/>
            <a:ext cx="107259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dirty="0">
                <a:solidFill>
                  <a:srgbClr val="2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Юридические риски подробно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6263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Лесная ягодка · 4</a:t>
            </a:r>
            <a:endParaRPr lang="en-US" sz="1100" dirty="0"/>
          </a:p>
        </p:txBody>
      </p:sp>
      <p:sp>
        <p:nvSpPr>
          <p:cNvPr id="101" name="Legal 0-0"/>
          <p:cNvSpPr/>
          <p:nvPr/>
        </p:nvSpPr>
        <p:spPr>
          <a:xfrm>
            <a:off x="731520" y="2011680"/>
            <a:ext cx="5088636" cy="0"/>
          </a:xfrm>
          <a:prstGeom prst="line">
            <a:avLst/>
          </a:prstGeom>
          <a:noFill/>
          <a:ln w="9525">
            <a:solidFill>
              <a:srgbClr val="B9B3A8"/>
            </a:solidFill>
            <a:prstDash val="solid"/>
          </a:ln>
        </p:spPr>
        <p:txBody>
          <a:bodyPr/>
          <a:p/>
        </p:txBody>
      </p:sp>
      <p:sp>
        <p:nvSpPr>
          <p:cNvPr id="102" name="Legal 0-109728"/>
          <p:cNvSpPr txBox="1"/>
          <p:nvPr/>
        </p:nvSpPr>
        <p:spPr>
          <a:xfrm>
            <a:off x="731520" y="2121408"/>
            <a:ext cx="50886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Согласие не отдельным документом</a:t>
            </a:r>
            <a:endParaRPr lang="en-US" sz="1800" dirty="0"/>
          </a:p>
        </p:txBody>
      </p:sp>
      <p:sp>
        <p:nvSpPr>
          <p:cNvPr id="103" name="Legal 0-402336"/>
          <p:cNvSpPr txBox="1"/>
          <p:nvPr/>
        </p:nvSpPr>
        <p:spPr>
          <a:xfrm>
            <a:off x="731520" y="2414016"/>
            <a:ext cx="5088636" cy="58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Галочка в корзине ведёт на оферту и политику. С 1.09.2025 согласие — отдельный текст. Штраф 300–700 тыс. ₽.</a:t>
            </a:r>
            <a:endParaRPr lang="en-US" sz="1500" dirty="0"/>
          </a:p>
        </p:txBody>
      </p:sp>
      <p:sp>
        <p:nvSpPr>
          <p:cNvPr id="104" name="Legal 1-0"/>
          <p:cNvSpPr/>
          <p:nvPr/>
        </p:nvSpPr>
        <p:spPr>
          <a:xfrm>
            <a:off x="731520" y="3044952"/>
            <a:ext cx="5088636" cy="0"/>
          </a:xfrm>
          <a:prstGeom prst="line">
            <a:avLst/>
          </a:prstGeom>
          <a:noFill/>
          <a:ln w="9525">
            <a:solidFill>
              <a:srgbClr val="B9B3A8"/>
            </a:solidFill>
            <a:prstDash val="solid"/>
          </a:ln>
        </p:spPr>
        <p:txBody>
          <a:bodyPr/>
          <a:p/>
        </p:txBody>
      </p:sp>
      <p:sp>
        <p:nvSpPr>
          <p:cNvPr id="105" name="Legal 1-109728"/>
          <p:cNvSpPr txBox="1"/>
          <p:nvPr/>
        </p:nvSpPr>
        <p:spPr>
          <a:xfrm>
            <a:off x="731520" y="3154680"/>
            <a:ext cx="50886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Метрика до согласия</a:t>
            </a:r>
            <a:endParaRPr lang="en-US" sz="1800" dirty="0"/>
          </a:p>
        </p:txBody>
      </p:sp>
      <p:sp>
        <p:nvSpPr>
          <p:cNvPr id="106" name="Legal 1-402336"/>
          <p:cNvSpPr txBox="1"/>
          <p:nvPr/>
        </p:nvSpPr>
        <p:spPr>
          <a:xfrm>
            <a:off x="731520" y="3447288"/>
            <a:ext cx="5088636" cy="58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Метрика с Вебвизором включается сразу, до согласия на cookie. В политике о ней ничего нет.</a:t>
            </a:r>
            <a:endParaRPr lang="en-US" sz="1500" dirty="0"/>
          </a:p>
        </p:txBody>
      </p:sp>
      <p:sp>
        <p:nvSpPr>
          <p:cNvPr id="107" name="Legal 2-0"/>
          <p:cNvSpPr/>
          <p:nvPr/>
        </p:nvSpPr>
        <p:spPr>
          <a:xfrm>
            <a:off x="731520" y="4078224"/>
            <a:ext cx="5088636" cy="0"/>
          </a:xfrm>
          <a:prstGeom prst="line">
            <a:avLst/>
          </a:prstGeom>
          <a:noFill/>
          <a:ln w="9525">
            <a:solidFill>
              <a:srgbClr val="B9B3A8"/>
            </a:solidFill>
            <a:prstDash val="solid"/>
          </a:ln>
        </p:spPr>
        <p:txBody>
          <a:bodyPr/>
          <a:p/>
        </p:txBody>
      </p:sp>
      <p:sp>
        <p:nvSpPr>
          <p:cNvPr id="108" name="Legal 2-109728"/>
          <p:cNvSpPr txBox="1"/>
          <p:nvPr/>
        </p:nvSpPr>
        <p:spPr>
          <a:xfrm>
            <a:off x="731520" y="4187952"/>
            <a:ext cx="50886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политике нет ИНН и почты для обращений</a:t>
            </a:r>
            <a:endParaRPr lang="en-US" sz="1800" dirty="0"/>
          </a:p>
        </p:txBody>
      </p:sp>
      <p:sp>
        <p:nvSpPr>
          <p:cNvPr id="109" name="Legal 2-402336"/>
          <p:cNvSpPr txBox="1"/>
          <p:nvPr/>
        </p:nvSpPr>
        <p:spPr>
          <a:xfrm>
            <a:off x="731520" y="4480560"/>
            <a:ext cx="5088636" cy="58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даты и cookie. Написано, что данные не передаются третьим лицам, а заказы едут через СДЭК.</a:t>
            </a:r>
            <a:endParaRPr lang="en-US" sz="1500" dirty="0"/>
          </a:p>
        </p:txBody>
      </p:sp>
      <p:sp>
        <p:nvSpPr>
          <p:cNvPr id="110" name="Legal 3-0"/>
          <p:cNvSpPr/>
          <p:nvPr/>
        </p:nvSpPr>
        <p:spPr>
          <a:xfrm>
            <a:off x="731520" y="5111496"/>
            <a:ext cx="5088636" cy="0"/>
          </a:xfrm>
          <a:prstGeom prst="line">
            <a:avLst/>
          </a:prstGeom>
          <a:noFill/>
          <a:ln w="9525">
            <a:solidFill>
              <a:srgbClr val="B9B3A8"/>
            </a:solidFill>
            <a:prstDash val="solid"/>
          </a:ln>
        </p:spPr>
        <p:txBody>
          <a:bodyPr/>
          <a:p/>
        </p:txBody>
      </p:sp>
      <p:sp>
        <p:nvSpPr>
          <p:cNvPr id="111" name="Legal 3-109728"/>
          <p:cNvSpPr txBox="1"/>
          <p:nvPr/>
        </p:nvSpPr>
        <p:spPr>
          <a:xfrm>
            <a:off x="731520" y="5221224"/>
            <a:ext cx="50886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сказано, где хранятся данные</a:t>
            </a:r>
            <a:endParaRPr lang="en-US" sz="1800" dirty="0"/>
          </a:p>
        </p:txBody>
      </p:sp>
      <p:sp>
        <p:nvSpPr>
          <p:cNvPr id="112" name="Legal 3-402336"/>
          <p:cNvSpPr txBox="1"/>
          <p:nvPr/>
        </p:nvSpPr>
        <p:spPr>
          <a:xfrm>
            <a:off x="731520" y="5513832"/>
            <a:ext cx="5088636" cy="58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1.07.2025 базы с данными россиян — только в России. Штраф до 6 млн ₽, повторно до 18 млн.</a:t>
            </a:r>
            <a:endParaRPr lang="en-US" sz="1500" dirty="0"/>
          </a:p>
        </p:txBody>
      </p:sp>
      <p:sp>
        <p:nvSpPr>
          <p:cNvPr id="113" name="Legal 4-0"/>
          <p:cNvSpPr/>
          <p:nvPr/>
        </p:nvSpPr>
        <p:spPr>
          <a:xfrm>
            <a:off x="6368796" y="2011680"/>
            <a:ext cx="5088636" cy="0"/>
          </a:xfrm>
          <a:prstGeom prst="line">
            <a:avLst/>
          </a:prstGeom>
          <a:noFill/>
          <a:ln w="9525">
            <a:solidFill>
              <a:srgbClr val="B9B3A8"/>
            </a:solidFill>
            <a:prstDash val="solid"/>
          </a:ln>
        </p:spPr>
        <p:txBody>
          <a:bodyPr/>
          <a:p/>
        </p:txBody>
      </p:sp>
      <p:sp>
        <p:nvSpPr>
          <p:cNvPr id="114" name="Legal 4-109728"/>
          <p:cNvSpPr txBox="1"/>
          <p:nvPr/>
        </p:nvSpPr>
        <p:spPr>
          <a:xfrm>
            <a:off x="6368796" y="2121408"/>
            <a:ext cx="50886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контактов для претензий</a:t>
            </a:r>
            <a:endParaRPr lang="en-US" sz="1800" dirty="0"/>
          </a:p>
        </p:txBody>
      </p:sp>
      <p:sp>
        <p:nvSpPr>
          <p:cNvPr id="115" name="Legal 4-402336"/>
          <p:cNvSpPr txBox="1"/>
          <p:nvPr/>
        </p:nvSpPr>
        <p:spPr>
          <a:xfrm>
            <a:off x="6368796" y="2414016"/>
            <a:ext cx="5088636" cy="58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оферте нет почты и телефона продавца и порядка претензий. Этого требуют Правила продажи № 657.</a:t>
            </a:r>
            <a:endParaRPr lang="en-US" sz="1500" dirty="0"/>
          </a:p>
        </p:txBody>
      </p:sp>
      <p:sp>
        <p:nvSpPr>
          <p:cNvPr id="116" name="Legal 5-0"/>
          <p:cNvSpPr/>
          <p:nvPr/>
        </p:nvSpPr>
        <p:spPr>
          <a:xfrm>
            <a:off x="6368796" y="3044952"/>
            <a:ext cx="5088636" cy="0"/>
          </a:xfrm>
          <a:prstGeom prst="line">
            <a:avLst/>
          </a:prstGeom>
          <a:noFill/>
          <a:ln w="9525">
            <a:solidFill>
              <a:srgbClr val="B9B3A8"/>
            </a:solidFill>
            <a:prstDash val="solid"/>
          </a:ln>
        </p:spPr>
        <p:txBody>
          <a:bodyPr/>
          <a:p/>
        </p:txBody>
      </p:sp>
      <p:sp>
        <p:nvSpPr>
          <p:cNvPr id="117" name="Legal 5-109728"/>
          <p:cNvSpPr txBox="1"/>
          <p:nvPr/>
        </p:nvSpPr>
        <p:spPr>
          <a:xfrm>
            <a:off x="6368796" y="3154680"/>
            <a:ext cx="50886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Запрет отказаться от товара</a:t>
            </a:r>
            <a:endParaRPr lang="en-US" sz="1800" dirty="0"/>
          </a:p>
        </p:txBody>
      </p:sp>
      <p:sp>
        <p:nvSpPr>
          <p:cNvPr id="118" name="Legal 5-402336"/>
          <p:cNvSpPr txBox="1"/>
          <p:nvPr/>
        </p:nvSpPr>
        <p:spPr>
          <a:xfrm>
            <a:off x="6368796" y="3447288"/>
            <a:ext cx="5088636" cy="58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оферте: «Покупатель не имеет права отказаться от получения товара». По закону вправе до передачи (ЗоЗПП ст. 26.1).</a:t>
            </a:r>
            <a:endParaRPr lang="en-US" sz="1500" dirty="0"/>
          </a:p>
        </p:txBody>
      </p:sp>
      <p:sp>
        <p:nvSpPr>
          <p:cNvPr id="119" name="Legal 6-0"/>
          <p:cNvSpPr/>
          <p:nvPr/>
        </p:nvSpPr>
        <p:spPr>
          <a:xfrm>
            <a:off x="6368796" y="4078224"/>
            <a:ext cx="5088636" cy="0"/>
          </a:xfrm>
          <a:prstGeom prst="line">
            <a:avLst/>
          </a:prstGeom>
          <a:noFill/>
          <a:ln w="9525">
            <a:solidFill>
              <a:srgbClr val="B9B3A8"/>
            </a:solidFill>
            <a:prstDash val="solid"/>
          </a:ln>
        </p:spPr>
        <p:txBody>
          <a:bodyPr/>
          <a:p/>
        </p:txBody>
      </p:sp>
      <p:sp>
        <p:nvSpPr>
          <p:cNvPr id="120" name="Legal 6-109728"/>
          <p:cNvSpPr txBox="1"/>
          <p:nvPr/>
        </p:nvSpPr>
        <p:spPr>
          <a:xfrm>
            <a:off x="6368796" y="4187952"/>
            <a:ext cx="50886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все сведения о продуктах</a:t>
            </a:r>
            <a:endParaRPr lang="en-US" sz="1800" dirty="0"/>
          </a:p>
        </p:txBody>
      </p:sp>
      <p:sp>
        <p:nvSpPr>
          <p:cNvPr id="121" name="Legal 6-402336"/>
          <p:cNvSpPr txBox="1"/>
          <p:nvPr/>
        </p:nvSpPr>
        <p:spPr>
          <a:xfrm>
            <a:off x="6368796" y="4480560"/>
            <a:ext cx="5088636" cy="58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Состав, вес и срок есть. Нет условий хранения и пищевой ценности, хотя закон их требует (ЗоЗПП ст. 10).</a:t>
            </a:r>
            <a:endParaRPr lang="en-US" sz="1500" dirty="0"/>
          </a:p>
        </p:txBody>
      </p:sp>
      <p:sp>
        <p:nvSpPr>
          <p:cNvPr id="122" name="Legal 7-0"/>
          <p:cNvSpPr/>
          <p:nvPr/>
        </p:nvSpPr>
        <p:spPr>
          <a:xfrm>
            <a:off x="6368796" y="5111496"/>
            <a:ext cx="5088636" cy="0"/>
          </a:xfrm>
          <a:prstGeom prst="line">
            <a:avLst/>
          </a:prstGeom>
          <a:noFill/>
          <a:ln w="9525">
            <a:solidFill>
              <a:srgbClr val="B9B3A8"/>
            </a:solidFill>
            <a:prstDash val="solid"/>
          </a:ln>
        </p:spPr>
        <p:txBody>
          <a:bodyPr/>
          <a:p/>
        </p:txBody>
      </p:sp>
      <p:sp>
        <p:nvSpPr>
          <p:cNvPr id="123" name="Legal 7-109728"/>
          <p:cNvSpPr txBox="1"/>
          <p:nvPr/>
        </p:nvSpPr>
        <p:spPr>
          <a:xfrm>
            <a:off x="6368796" y="5221224"/>
            <a:ext cx="50886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Проверим на созвоне</a:t>
            </a:r>
            <a:endParaRPr lang="en-US" sz="1800" dirty="0"/>
          </a:p>
        </p:txBody>
      </p:sp>
      <p:sp>
        <p:nvSpPr>
          <p:cNvPr id="124" name="Legal 7-402336"/>
          <p:cNvSpPr txBox="1"/>
          <p:nvPr/>
        </p:nvSpPr>
        <p:spPr>
          <a:xfrm>
            <a:off x="6368796" y="5513832"/>
            <a:ext cx="5088636" cy="58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Уведомление в реестре Роскомнадзора, чеки по 54-ФЗ и куда Tilda отправляет данные из корзины.</a:t>
            </a:r>
            <a:endParaRPr lang="en-US" sz="1500" dirty="0"/>
          </a:p>
        </p:txBody>
      </p:sp>
      <p:sp>
        <p:nvSpPr>
          <p:cNvPr id="200" name="Sources"/>
          <p:cNvSpPr txBox="1"/>
          <p:nvPr/>
        </p:nvSpPr>
        <p:spPr>
          <a:xfrm>
            <a:off x="4572000" y="6263640"/>
            <a:ext cx="6885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152-ФЗ, КоАП ст. 13.11, ЗоЗПП, ПП № 657. Проверено по lesnaya-yagodka.ru, сентябрь 2026.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4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СКОЛЬКО ЭТО СТОИТ СЕЙЧАС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0584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4000" dirty="0">
                <a:solidFill>
                  <a:srgbClr val="2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Время = Деньги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10312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0" dirty="0">
                <a:solidFill>
                  <a:srgbClr val="4A6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2 млн ₽</a:t>
            </a:r>
            <a:endParaRPr lang="en-US" sz="8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490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при 300 заказах в месяц и среднем чеке 2 000 ₽. Посчитаем на ваших цифрах, если захотите.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1550840"/>
            <a:ext cx="5056632" cy="0"/>
          </a:xfrm>
          <a:prstGeom prst="line">
            <a:avLst/>
          </a:prstGeom>
          <a:noFill/>
          <a:ln w="9525">
            <a:solidFill>
              <a:srgbClr val="B9B3A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6400800" y="17794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Заказы, ушедшие на «нет в </a:t>
            </a:r>
            <a:r>
              <a:rPr lang="en-US" sz="1500" dirty="0" err="1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наличии</a:t>
            </a:r>
            <a:r>
              <a:rPr lang="en-US" sz="150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»</a:t>
            </a:r>
            <a:r>
              <a:rPr lang="ru-RU" sz="150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 забывшие про ваше производство, хотя заказать хотели по импульсу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+8% заказов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509760" y="1965960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580 000 ₽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400800" y="2971800"/>
            <a:ext cx="5056632" cy="0"/>
          </a:xfrm>
          <a:prstGeom prst="line">
            <a:avLst/>
          </a:prstGeom>
          <a:noFill/>
          <a:ln w="9525">
            <a:solidFill>
              <a:srgbClr val="B9B3A8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400800" y="31546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Средний чек без наборов и порога доставки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+7% к чеку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9509760" y="3200400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500 000 ₽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00800" y="4206240"/>
            <a:ext cx="5056632" cy="0"/>
          </a:xfrm>
          <a:prstGeom prst="line">
            <a:avLst/>
          </a:prstGeom>
          <a:noFill/>
          <a:ln w="9525">
            <a:solidFill>
              <a:srgbClr val="B9B3A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6400800" y="43891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Ваше время на рутину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ч в неделю, −70%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509760" y="4434840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1 100 000 ₽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400800" y="5440680"/>
            <a:ext cx="5056632" cy="0"/>
          </a:xfrm>
          <a:prstGeom prst="line">
            <a:avLst/>
          </a:prstGeom>
          <a:noFill/>
          <a:ln w="9525">
            <a:solidFill>
              <a:srgbClr val="B9B3A8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731520" y="6263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Лесная ягодка · 5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CE7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4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БУДЕТ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0584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dirty="0">
                <a:solidFill>
                  <a:srgbClr val="2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Спокойный сайт, в котором узнают </a:t>
            </a:r>
            <a:r>
              <a:rPr lang="en-US" sz="4000" i="1" dirty="0">
                <a:solidFill>
                  <a:srgbClr val="4A6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вас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651760"/>
            <a:ext cx="6400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Разобрали — «Записаться», появился вкус — ссылка на оплату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Ваша история и «почему нет в наличии» вашими словами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живые кадры из вашего Instagram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Всё по закону: согласия, cookies, данные в </a:t>
            </a:r>
            <a:r>
              <a:rPr lang="en-US" sz="1700" dirty="0" err="1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России</a:t>
            </a:r>
            <a:endParaRPr lang="ru-RU" sz="1700" dirty="0">
              <a:solidFill>
                <a:srgbClr val="2A2A2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ru-RU" sz="1700" dirty="0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Индексация для браузера это дополнительная возможность привлечь крупные заказы и людей которые готовы платить больше.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0" y="640080"/>
            <a:ext cx="3108960" cy="5486400"/>
          </a:xfrm>
          <a:prstGeom prst="rect">
            <a:avLst/>
          </a:prstGeom>
          <a:solidFill>
            <a:srgbClr val="F6F3EE"/>
          </a:solidFill>
          <a:ln w="15875">
            <a:solidFill>
              <a:srgbClr val="2A2A2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8412480" y="777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Лесная ягодка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241280" y="8046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4A6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Марина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0" y="1188720"/>
            <a:ext cx="3108960" cy="0"/>
          </a:xfrm>
          <a:prstGeom prst="line">
            <a:avLst/>
          </a:prstGeom>
          <a:noFill/>
          <a:ln w="9525">
            <a:solidFill>
              <a:srgbClr val="B9B3A8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412480" y="1371600"/>
            <a:ext cx="2743200" cy="1737360"/>
          </a:xfrm>
          <a:prstGeom prst="rect">
            <a:avLst/>
          </a:prstGeom>
          <a:solidFill>
            <a:srgbClr val="56604A"/>
          </a:solidFill>
          <a:ln w="12700">
            <a:solidFill>
              <a:srgbClr val="5660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850392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CE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ваш кадр: корзина ягод в лесу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412480" y="32461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2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Дары псковских </a:t>
            </a:r>
            <a:r>
              <a:rPr lang="en-US" sz="2200" i="1" dirty="0">
                <a:solidFill>
                  <a:srgbClr val="4A6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лесов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412480" y="4160520"/>
            <a:ext cx="2743200" cy="0"/>
          </a:xfrm>
          <a:prstGeom prst="line">
            <a:avLst/>
          </a:prstGeom>
          <a:noFill/>
          <a:ln w="9525">
            <a:solidFill>
              <a:srgbClr val="B9B3A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8412480" y="4251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Зефир малиновый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966960" y="42519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осталось 7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12480" y="4663440"/>
            <a:ext cx="2743200" cy="0"/>
          </a:xfrm>
          <a:prstGeom prst="line">
            <a:avLst/>
          </a:prstGeom>
          <a:noFill/>
          <a:ln w="9525">
            <a:solidFill>
              <a:srgbClr val="B9B3A8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8412480" y="4754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Зефир голубичный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966960" y="47548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4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записаться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12480" y="5303520"/>
            <a:ext cx="2743200" cy="548640"/>
          </a:xfrm>
          <a:prstGeom prst="rect">
            <a:avLst/>
          </a:prstGeom>
          <a:solidFill>
            <a:srgbClr val="4A6B3A"/>
          </a:solidFill>
          <a:ln w="12700">
            <a:solidFill>
              <a:srgbClr val="4A6B3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8412480" y="53035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200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КАТАЛОГ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6263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Лесная ягодка · 6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7D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2000250"/>
            <a:ext cx="1365250" cy="2857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0600" y="2400300"/>
            <a:ext cx="1416050" cy="2457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739900"/>
            <a:ext cx="1485900" cy="31178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6200" y="1460500"/>
            <a:ext cx="1612900" cy="3397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2800" y="457200"/>
            <a:ext cx="571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 i="0" spc="300">
                <a:solidFill>
                  <a:srgbClr val="4A6B3A"/>
                </a:solidFill>
                <a:latin typeface="Arial"/>
              </a:rPr>
              <a:t>НА ТЕЛЕФОНАХ · ПОКУПАТЕЛЬ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736600"/>
            <a:ext cx="6350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200" b="0" i="0">
                <a:solidFill>
                  <a:srgbClr val="2A2A26"/>
                </a:solidFill>
                <a:latin typeface="Georgia"/>
              </a:rPr>
              <a:t>Что увидит покупатель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42200" y="635000"/>
            <a:ext cx="3937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5E5D56"/>
                </a:solidFill>
                <a:latin typeface="Arial"/>
              </a:rPr>
              <a:t>Товары, цены, вес, состав и срок годности с вашего сайта. Количества и заказы для примера.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" y="4984750"/>
            <a:ext cx="25273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 i="0">
                <a:solidFill>
                  <a:srgbClr val="5E5D56"/>
                </a:solidFill>
                <a:latin typeface="Arial"/>
              </a:rPr>
              <a:t>Android · 360 px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5226050"/>
            <a:ext cx="25273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 i="0">
                <a:solidFill>
                  <a:srgbClr val="2A2A26"/>
                </a:solidFill>
                <a:latin typeface="Arial"/>
              </a:rPr>
              <a:t>Главная в день партии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5543550"/>
            <a:ext cx="25273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5E5D56"/>
                </a:solidFill>
                <a:latin typeface="Arial"/>
              </a:rPr>
              <a:t>Видно, сколько осталось. Партия закончилась, продажа закрылась сама.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0600" y="4984750"/>
            <a:ext cx="25273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 i="0">
                <a:solidFill>
                  <a:srgbClr val="5E5D56"/>
                </a:solidFill>
                <a:latin typeface="Arial"/>
              </a:rPr>
              <a:t>iPhone SE · 375 px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0600" y="5226050"/>
            <a:ext cx="25273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 i="0">
                <a:solidFill>
                  <a:srgbClr val="2A2A26"/>
                </a:solidFill>
                <a:latin typeface="Arial"/>
              </a:rPr>
              <a:t>Карточка товара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0600" y="5543550"/>
            <a:ext cx="25273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5E5D56"/>
                </a:solidFill>
                <a:latin typeface="Arial"/>
              </a:rPr>
              <a:t>Все сведения о продукте по закону. Без них товар не опубликуется.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8400" y="4984750"/>
            <a:ext cx="25273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 i="0">
                <a:solidFill>
                  <a:srgbClr val="5E5D56"/>
                </a:solidFill>
                <a:latin typeface="Arial"/>
              </a:rPr>
              <a:t>iPhone 15 · 393 px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8400" y="5226050"/>
            <a:ext cx="25273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 i="0">
                <a:solidFill>
                  <a:srgbClr val="2A2A26"/>
                </a:solidFill>
                <a:latin typeface="Arial"/>
              </a:rPr>
              <a:t>Оформление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400" y="5543550"/>
            <a:ext cx="25273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5E5D56"/>
                </a:solidFill>
                <a:latin typeface="Arial"/>
              </a:rPr>
              <a:t>Отдельное согласие без отметки заранее, СДЭК на карте, чек на почту.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6200" y="4984750"/>
            <a:ext cx="25273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 i="0">
                <a:solidFill>
                  <a:srgbClr val="5E5D56"/>
                </a:solidFill>
                <a:latin typeface="Arial"/>
              </a:rPr>
              <a:t>iPhone 15 Pro Max · 430 px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6200" y="5226050"/>
            <a:ext cx="25273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 i="0">
                <a:solidFill>
                  <a:srgbClr val="2A2A26"/>
                </a:solidFill>
                <a:latin typeface="Arial"/>
              </a:rPr>
              <a:t>Партия разобрана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6200" y="5543550"/>
            <a:ext cx="25273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5E5D56"/>
                </a:solidFill>
                <a:latin typeface="Arial"/>
              </a:rPr>
              <a:t>Вместо «нет в наличии» очередь и одно сообщение об открытии.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1524000"/>
            <a:ext cx="1587500" cy="33401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1750" y="1524000"/>
            <a:ext cx="1587500" cy="3340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00" y="1524000"/>
            <a:ext cx="1587500" cy="3340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9650" y="1524000"/>
            <a:ext cx="1587500" cy="3340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8600" y="1524000"/>
            <a:ext cx="1587500" cy="3340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7550" y="1524000"/>
            <a:ext cx="1587500" cy="33401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2800" y="457200"/>
            <a:ext cx="571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 i="0" spc="300">
                <a:solidFill>
                  <a:srgbClr val="4A6B3A"/>
                </a:solidFill>
                <a:latin typeface="Arial"/>
              </a:rPr>
              <a:t>ОФОРМЛЕНИЕ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" y="736600"/>
            <a:ext cx="6350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200" b="0" i="0">
                <a:solidFill>
                  <a:srgbClr val="2A2A26"/>
                </a:solidFill>
                <a:latin typeface="Georgia"/>
              </a:rPr>
              <a:t>Оформление может быть любым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42200" y="609600"/>
            <a:ext cx="39370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5E5D56"/>
                </a:solidFill>
                <a:latin typeface="Arial"/>
              </a:rPr>
              <a:t>Ваш экран с товарами и ценами в десяти стилях: здесь шесть, все десять — в отдельном файле. Выбираете вы, я довожу стиль до всего сайта.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4991100"/>
            <a:ext cx="156845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 i="0">
                <a:solidFill>
                  <a:srgbClr val="2A2A26"/>
                </a:solidFill>
                <a:latin typeface="Arial"/>
              </a:rPr>
              <a:t>Лесной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" y="5308600"/>
            <a:ext cx="15684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5E5D56"/>
                </a:solidFill>
                <a:latin typeface="Arial"/>
              </a:rPr>
              <a:t>Лён, мох, антиква. Спокойно, как журнал о еде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1750" y="4991100"/>
            <a:ext cx="156845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 i="0">
                <a:solidFill>
                  <a:srgbClr val="2A2A26"/>
                </a:solidFill>
                <a:latin typeface="Arial"/>
              </a:rPr>
              <a:t>Ягодный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1750" y="5308600"/>
            <a:ext cx="15684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5E5D56"/>
                </a:solidFill>
                <a:latin typeface="Arial"/>
              </a:rPr>
              <a:t>Тёплый цвет, мягкие карточки, сочные фото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0700" y="4991100"/>
            <a:ext cx="156845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 i="0">
                <a:solidFill>
                  <a:srgbClr val="2A2A26"/>
                </a:solidFill>
                <a:latin typeface="Arial"/>
              </a:rPr>
              <a:t>Журнальный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0700" y="5308600"/>
            <a:ext cx="15684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5E5D56"/>
                </a:solidFill>
                <a:latin typeface="Arial"/>
              </a:rPr>
              <a:t>Чёрно-белый, как меню: цифры и линейки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9650" y="4991100"/>
            <a:ext cx="156845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 i="0">
                <a:solidFill>
                  <a:srgbClr val="2A2A26"/>
                </a:solidFill>
                <a:latin typeface="Arial"/>
              </a:rPr>
              <a:t>Фермерский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650" y="5308600"/>
            <a:ext cx="15684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5E5D56"/>
                </a:solidFill>
                <a:latin typeface="Arial"/>
              </a:rPr>
              <a:t>Крафт и рукописный шрифт, как лавка в деревне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48600" y="4991100"/>
            <a:ext cx="156845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 i="0">
                <a:solidFill>
                  <a:srgbClr val="2A2A26"/>
                </a:solidFill>
                <a:latin typeface="Arial"/>
              </a:rPr>
              <a:t>Вечерний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48600" y="5308600"/>
            <a:ext cx="15684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5E5D56"/>
                </a:solidFill>
                <a:latin typeface="Arial"/>
              </a:rPr>
              <a:t>Тёмная тема и золото для подарков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7550" y="4991100"/>
            <a:ext cx="156845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 i="0">
                <a:solidFill>
                  <a:srgbClr val="2A2A26"/>
                </a:solidFill>
                <a:latin typeface="Arial"/>
              </a:rPr>
              <a:t>Яркий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7550" y="5308600"/>
            <a:ext cx="15684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5E5D56"/>
                </a:solidFill>
                <a:latin typeface="Arial"/>
              </a:rPr>
              <a:t>Крупный гротеск и цветные блоки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4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АДМИНКА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05840"/>
            <a:ext cx="107259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dirty="0">
                <a:solidFill>
                  <a:srgbClr val="2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Один день: до и </a:t>
            </a:r>
            <a:r>
              <a:rPr lang="en-US" sz="4000" i="1" dirty="0">
                <a:solidFill>
                  <a:srgbClr val="4A6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после</a:t>
            </a:r>
            <a:endParaRPr lang="en-US" sz="4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286000"/>
          <a:ext cx="10725912" cy="3401568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314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314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E5D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Когда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E5D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Сейчас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4A6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 новой системой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E5D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Утро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A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Отвечать в директ «когда малина?»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4A6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Записавшимся придёт сообщение само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E5D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День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A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Накладные СДЭК и треки вручную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4A6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«Собрано» — накладные и треки сами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E5D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18:00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A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Выкладывать партию и пост руками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4A6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Партия и пост в Telegram выходят сами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E5D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Вечер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A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Считать, что варить завтра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4A6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Лист для цеха и отчёт в 21:00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5E5D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Месяц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A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Гадать, какой вкус зарабатывает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4A6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Прибыль по каждому вкусу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31520" y="6263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Лесная ягодка · 9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7D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1739900"/>
            <a:ext cx="1485900" cy="31178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0600" y="2000250"/>
            <a:ext cx="1365250" cy="2857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400300"/>
            <a:ext cx="1416050" cy="2457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6200" y="1460500"/>
            <a:ext cx="1612900" cy="3397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2800" y="457200"/>
            <a:ext cx="571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 i="0" spc="300">
                <a:solidFill>
                  <a:srgbClr val="4A6B3A"/>
                </a:solidFill>
                <a:latin typeface="Arial"/>
              </a:rPr>
              <a:t>НА ТЕЛЕФОНАХ · ВЫ И КОМАНДА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736600"/>
            <a:ext cx="6350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200" b="0" i="0">
                <a:solidFill>
                  <a:srgbClr val="2A2A26"/>
                </a:solidFill>
                <a:latin typeface="Georgia"/>
              </a:rPr>
              <a:t>Что увидите вы и команда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42200" y="635000"/>
            <a:ext cx="3937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5E5D56"/>
                </a:solidFill>
                <a:latin typeface="Arial"/>
              </a:rPr>
              <a:t>Экраны админки тоже для телефона: партию можно открыть прямо из цеха.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" y="4984750"/>
            <a:ext cx="25273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 i="0">
                <a:solidFill>
                  <a:srgbClr val="5E5D56"/>
                </a:solidFill>
                <a:latin typeface="Arial"/>
              </a:rPr>
              <a:t>iPhone 15 · 393 px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5226050"/>
            <a:ext cx="25273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 i="0">
                <a:solidFill>
                  <a:srgbClr val="2A2A26"/>
                </a:solidFill>
                <a:latin typeface="Arial"/>
              </a:rPr>
              <a:t>Партия с телефона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5543550"/>
            <a:ext cx="25273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5E5D56"/>
                </a:solidFill>
                <a:latin typeface="Arial"/>
              </a:rPr>
              <a:t>Один раз указали мощность цеха и время, дальше сайт всё делает сам.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0600" y="4984750"/>
            <a:ext cx="25273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 i="0">
                <a:solidFill>
                  <a:srgbClr val="5E5D56"/>
                </a:solidFill>
                <a:latin typeface="Arial"/>
              </a:rPr>
              <a:t>Android · 360 px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0600" y="5226050"/>
            <a:ext cx="25273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 i="0">
                <a:solidFill>
                  <a:srgbClr val="2A2A26"/>
                </a:solidFill>
                <a:latin typeface="Arial"/>
              </a:rPr>
              <a:t>Экран упаковщика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0600" y="5543550"/>
            <a:ext cx="25273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5E5D56"/>
                </a:solidFill>
                <a:latin typeface="Arial"/>
              </a:rPr>
              <a:t>Только свои заказы, накладная СДЭК готова, наклейки с датой кнопкой.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8400" y="4984750"/>
            <a:ext cx="25273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 i="0">
                <a:solidFill>
                  <a:srgbClr val="5E5D56"/>
                </a:solidFill>
                <a:latin typeface="Arial"/>
              </a:rPr>
              <a:t>iPhone SE · 375 px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8400" y="5226050"/>
            <a:ext cx="25273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 i="0">
                <a:solidFill>
                  <a:srgbClr val="2A2A26"/>
                </a:solidFill>
                <a:latin typeface="Arial"/>
              </a:rPr>
              <a:t>Сводка в Telegram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400" y="5543550"/>
            <a:ext cx="25273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5E5D56"/>
                </a:solidFill>
                <a:latin typeface="Arial"/>
              </a:rPr>
              <a:t>Одно сообщение в конце дня вместо сотни уведомлений.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6200" y="4984750"/>
            <a:ext cx="25273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 i="0">
                <a:solidFill>
                  <a:srgbClr val="5E5D56"/>
                </a:solidFill>
                <a:latin typeface="Arial"/>
              </a:rPr>
              <a:t>iPhone 15 Pro Max · 430 px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6200" y="5226050"/>
            <a:ext cx="25273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 i="0">
                <a:solidFill>
                  <a:srgbClr val="2A2A26"/>
                </a:solidFill>
                <a:latin typeface="Arial"/>
              </a:rPr>
              <a:t>Финансы, по желанию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6200" y="5543550"/>
            <a:ext cx="25273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5E5D56"/>
                </a:solidFill>
                <a:latin typeface="Arial"/>
              </a:rPr>
              <a:t>Выручка из оплат сама, себестоимость из закупок. Отдельный модуль.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1300" y="1524000"/>
            <a:ext cx="6635750" cy="469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558800"/>
            <a:ext cx="10566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 i="0" spc="300">
                <a:solidFill>
                  <a:srgbClr val="4A6B3A"/>
                </a:solidFill>
                <a:latin typeface="Arial"/>
              </a:rPr>
              <a:t>АДМИНКА НА КОМПЬЮТЕРЕ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850900"/>
            <a:ext cx="10566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200" b="0" i="0">
                <a:solidFill>
                  <a:srgbClr val="2A2A26"/>
                </a:solidFill>
                <a:latin typeface="Georgia"/>
              </a:rPr>
              <a:t>Экран «Сегодня»: всё, что нужно знать за день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CE7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4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 «ДЕНЬГИ»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058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dirty="0">
                <a:solidFill>
                  <a:srgbClr val="2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Впервые видно, сколько зарабатывает </a:t>
            </a:r>
            <a:r>
              <a:rPr lang="en-US" sz="4000" i="1" dirty="0">
                <a:solidFill>
                  <a:srgbClr val="4A6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каждый вкус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2651760"/>
            <a:ext cx="3331464" cy="2194560"/>
          </a:xfrm>
          <a:prstGeom prst="rect">
            <a:avLst/>
          </a:prstGeom>
          <a:solidFill>
            <a:srgbClr val="F6F3EE"/>
          </a:solidFill>
          <a:ln w="12700">
            <a:solidFill>
              <a:srgbClr val="F6F3E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1051560" y="2926080"/>
            <a:ext cx="2691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Себестоимость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3474720"/>
            <a:ext cx="26913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техкарте: ягода, пюре, агар, упаковка, работа. Считается сама на каждую коробку.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28744" y="2651760"/>
            <a:ext cx="3331464" cy="2194560"/>
          </a:xfrm>
          <a:prstGeom prst="rect">
            <a:avLst/>
          </a:prstGeom>
          <a:solidFill>
            <a:srgbClr val="F6F3EE"/>
          </a:solidFill>
          <a:ln w="12700">
            <a:solidFill>
              <a:srgbClr val="F6F3E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4748784" y="2926080"/>
            <a:ext cx="2691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Прибыль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748784" y="3474720"/>
            <a:ext cx="26913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вкусу, партии и месяцу. Минус доставка и эквайринг.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25968" y="2651760"/>
            <a:ext cx="3331464" cy="2194560"/>
          </a:xfrm>
          <a:prstGeom prst="rect">
            <a:avLst/>
          </a:prstGeom>
          <a:solidFill>
            <a:srgbClr val="F6F3EE"/>
          </a:solidFill>
          <a:ln w="12700">
            <a:solidFill>
              <a:srgbClr val="F6F3E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446008" y="2926080"/>
            <a:ext cx="2691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бухгалтера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446008" y="3474720"/>
            <a:ext cx="26913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Расходы, оценка налога, сверка оплат и выгрузка одним файлом.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21208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управленческий учёт: бухгалтер остаётся, но получает готовые данные.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6263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Лесная ягодка · 12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7D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1739900"/>
            <a:ext cx="1485900" cy="31178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0600" y="2400300"/>
            <a:ext cx="1416050" cy="2457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000250"/>
            <a:ext cx="1365250" cy="2857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6200" y="1460500"/>
            <a:ext cx="1612900" cy="3397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2800" y="457200"/>
            <a:ext cx="571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 i="0" spc="300">
                <a:solidFill>
                  <a:srgbClr val="4A6B3A"/>
                </a:solidFill>
                <a:latin typeface="Arial"/>
              </a:rPr>
              <a:t>ПРИМЕРЫ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736600"/>
            <a:ext cx="6350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200" b="0" i="0">
                <a:solidFill>
                  <a:srgbClr val="2A2A26"/>
                </a:solidFill>
                <a:latin typeface="Georgia"/>
              </a:rPr>
              <a:t>Что ещё можно сделать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42200" y="635000"/>
            <a:ext cx="3937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5E5D56"/>
                </a:solidFill>
                <a:latin typeface="Arial"/>
              </a:rPr>
              <a:t>Идеи на вашем ассортименте. Каждая пишется отдельным модулем, если она вам нужна.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" y="4984750"/>
            <a:ext cx="25273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 i="0">
                <a:solidFill>
                  <a:srgbClr val="5E5D56"/>
                </a:solidFill>
                <a:latin typeface="Arial"/>
              </a:rPr>
              <a:t>iPhone 15 · 393 px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5226050"/>
            <a:ext cx="25273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 i="0">
                <a:solidFill>
                  <a:srgbClr val="2A2A26"/>
                </a:solidFill>
                <a:latin typeface="Arial"/>
              </a:rPr>
              <a:t>Подарочная коробка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5543550"/>
            <a:ext cx="25273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5E5D56"/>
                </a:solidFill>
                <a:latin typeface="Arial"/>
              </a:rPr>
              <a:t>Покупатель сам собирает набор из вкусов текущей партии и пишет открытку. Цена считается сразу.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0600" y="4984750"/>
            <a:ext cx="25273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 i="0">
                <a:solidFill>
                  <a:srgbClr val="5E5D56"/>
                </a:solidFill>
                <a:latin typeface="Arial"/>
              </a:rPr>
              <a:t>iPhone SE · 375 px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0600" y="5226050"/>
            <a:ext cx="25273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 i="0">
                <a:solidFill>
                  <a:srgbClr val="2A2A26"/>
                </a:solidFill>
                <a:latin typeface="Arial"/>
              </a:rPr>
              <a:t>Кабинет для опта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0600" y="5543550"/>
            <a:ext cx="25273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5E5D56"/>
                </a:solidFill>
                <a:latin typeface="Arial"/>
              </a:rPr>
              <a:t>Раздел для зарегистрированных покупателей на сайте уже есть. Из него выйдет кабинет партнёров: своя цена и счёт для юрлица.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8400" y="4984750"/>
            <a:ext cx="25273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 i="0">
                <a:solidFill>
                  <a:srgbClr val="5E5D56"/>
                </a:solidFill>
                <a:latin typeface="Arial"/>
              </a:rPr>
              <a:t>Android · 360 px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8400" y="5226050"/>
            <a:ext cx="25273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 i="0">
                <a:solidFill>
                  <a:srgbClr val="2A2A26"/>
                </a:solidFill>
                <a:latin typeface="Arial"/>
              </a:rPr>
              <a:t>Подписка на партию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400" y="5543550"/>
            <a:ext cx="25273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5E5D56"/>
                </a:solidFill>
                <a:latin typeface="Arial"/>
              </a:rPr>
              <a:t>Постоянные покупатели бронируют место в каждой партии, вы заранее знаете объём.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6200" y="4984750"/>
            <a:ext cx="25273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 i="0">
                <a:solidFill>
                  <a:srgbClr val="5E5D56"/>
                </a:solidFill>
                <a:latin typeface="Arial"/>
              </a:rPr>
              <a:t>iPhone 15 Pro Max · 430 px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6200" y="5226050"/>
            <a:ext cx="25273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 i="0">
                <a:solidFill>
                  <a:srgbClr val="2A2A26"/>
                </a:solidFill>
                <a:latin typeface="Arial"/>
              </a:rPr>
              <a:t>Магазин и курсы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6200" y="5543550"/>
            <a:ext cx="25273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5E5D56"/>
                </a:solidFill>
                <a:latin typeface="Arial"/>
              </a:rPr>
              <a:t>Связка lesnaya-yagodka.ru и zefirfly.com: общий профиль, покупатели находят и зефир, и курсы.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6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DCE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СТРАХОВКА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92024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dirty="0">
                <a:solidFill>
                  <a:srgbClr val="F6F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Ваши покупатели должны быть </a:t>
            </a:r>
            <a:r>
              <a:rPr lang="en-US" sz="5400" i="1" dirty="0">
                <a:solidFill>
                  <a:srgbClr val="F6F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вашими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7EC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в России заблокирован, Telegram замедляют. Сайт собирает свою базу: Telegram, email и телефоны. Что бы ни случилось с соцсетями, вы достучитесь до покупателей в любой момент.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CE7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4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ВАРИАНТЫ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05840"/>
            <a:ext cx="107259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dirty="0">
                <a:solidFill>
                  <a:srgbClr val="2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Насколько </a:t>
            </a:r>
            <a:r>
              <a:rPr lang="en-US" sz="4000" i="1" dirty="0">
                <a:solidFill>
                  <a:srgbClr val="4A6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свободной</a:t>
            </a:r>
            <a:r>
              <a:rPr lang="en-US" sz="4000" dirty="0">
                <a:solidFill>
                  <a:srgbClr val="2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быть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85800" y="2194560"/>
            <a:ext cx="3392424" cy="3931920"/>
          </a:xfrm>
          <a:prstGeom prst="rect">
            <a:avLst/>
          </a:prstGeom>
          <a:solidFill>
            <a:srgbClr val="F6F3EE"/>
          </a:solidFill>
          <a:ln w="9525">
            <a:solidFill>
              <a:srgbClr val="CFC8B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1051560" y="2651760"/>
            <a:ext cx="2752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2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Витрина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3258403"/>
            <a:ext cx="2752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3200" dirty="0">
                <a:solidFill>
                  <a:srgbClr val="2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r>
              <a:rPr lang="en-US" sz="3200" dirty="0">
                <a:solidFill>
                  <a:srgbClr val="2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0 000 ₽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942378" y="3974113"/>
            <a:ext cx="27523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Новый дизайн «Лесной»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Перенос каталога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Оплата, чеки, СДЭК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Согласия и cookies</a:t>
            </a:r>
            <a:endParaRPr lang="ru-RU" sz="1400" dirty="0">
              <a:solidFill>
                <a:srgbClr val="5E5D5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ru-RU" sz="1400" dirty="0">
                <a:solidFill>
                  <a:srgbClr val="5E5D56"/>
                </a:solidFill>
                <a:latin typeface="Arial" pitchFamily="34" charset="0"/>
                <a:cs typeface="Arial" pitchFamily="34" charset="-120"/>
              </a:rPr>
              <a:t>Месяц поддержки на критические </a:t>
            </a:r>
            <a:r>
              <a:rPr lang="ru-RU" sz="1400" dirty="0" err="1">
                <a:solidFill>
                  <a:srgbClr val="5E5D56"/>
                </a:solidFill>
                <a:latin typeface="Arial" pitchFamily="34" charset="0"/>
                <a:cs typeface="Arial" pitchFamily="34" charset="-120"/>
              </a:rPr>
              <a:t>неисправности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98264" y="2148840"/>
            <a:ext cx="3392424" cy="3931920"/>
          </a:xfrm>
          <a:prstGeom prst="rect">
            <a:avLst/>
          </a:prstGeom>
          <a:solidFill>
            <a:srgbClr val="F6F3EE"/>
          </a:solidFill>
          <a:ln w="28575">
            <a:solidFill>
              <a:srgbClr val="4A6B3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4718304" y="2377440"/>
            <a:ext cx="2752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718304" y="2697480"/>
            <a:ext cx="2752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2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Лавка на автопилоте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718304" y="3259085"/>
            <a:ext cx="2752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3200" dirty="0">
                <a:solidFill>
                  <a:srgbClr val="2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r>
              <a:rPr lang="en-US" sz="3200" dirty="0">
                <a:solidFill>
                  <a:srgbClr val="2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90 000 ₽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4663713" y="3866580"/>
            <a:ext cx="27523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Всё из «Витрины»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ru-RU" sz="1400" dirty="0">
                <a:solidFill>
                  <a:srgbClr val="2A2A26"/>
                </a:solidFill>
                <a:latin typeface="Arial" pitchFamily="34" charset="0"/>
                <a:cs typeface="Arial" pitchFamily="34" charset="-120"/>
              </a:rPr>
              <a:t>Виды автоматизаций выставления наличия и других утвержденных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Цех, этикетки, СДЭК пачкой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Сообщения и Telegram сами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</a:t>
            </a:r>
            <a:r>
              <a:rPr lang="en-US" sz="1400" dirty="0" err="1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месяца</a:t>
            </a:r>
            <a:r>
              <a:rPr lang="en-US" sz="140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400" dirty="0">
                <a:solidFill>
                  <a:srgbClr val="5E5D56"/>
                </a:solidFill>
                <a:latin typeface="Arial" pitchFamily="34" charset="0"/>
                <a:cs typeface="Arial" pitchFamily="34" charset="-120"/>
              </a:rPr>
              <a:t>поддержки на критические </a:t>
            </a:r>
            <a:r>
              <a:rPr lang="ru-RU" sz="1400" dirty="0" err="1">
                <a:solidFill>
                  <a:srgbClr val="5E5D56"/>
                </a:solidFill>
                <a:latin typeface="Arial" pitchFamily="34" charset="0"/>
                <a:cs typeface="Arial" pitchFamily="34" charset="-120"/>
              </a:rPr>
              <a:t>неисправности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65008" y="2148840"/>
            <a:ext cx="3392424" cy="3931920"/>
          </a:xfrm>
          <a:prstGeom prst="rect">
            <a:avLst/>
          </a:prstGeom>
          <a:solidFill>
            <a:srgbClr val="F6F3EE"/>
          </a:solidFill>
          <a:ln w="9525">
            <a:solidFill>
              <a:srgbClr val="CFC8B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385048" y="2697480"/>
            <a:ext cx="2752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2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Лавка и деньги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385048" y="3223260"/>
            <a:ext cx="2752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3200" dirty="0">
                <a:solidFill>
                  <a:srgbClr val="2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</a:t>
            </a:r>
            <a:r>
              <a:rPr lang="en-US" sz="3200" dirty="0">
                <a:solidFill>
                  <a:srgbClr val="2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0 000 ₽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8330457" y="3822795"/>
            <a:ext cx="27523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Всё из «Лавки»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 «Деньги»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ru-RU" sz="1400" dirty="0">
                <a:solidFill>
                  <a:srgbClr val="5E5D56"/>
                </a:solidFill>
                <a:latin typeface="Arial" pitchFamily="34" charset="0"/>
                <a:cs typeface="Arial" pitchFamily="34" charset="-120"/>
              </a:rPr>
              <a:t>Подумаем как можно повысить выручку и прийти желанным 7 миллионам через автоматизацию и налаживание рутины чтобы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</a:t>
            </a:r>
            <a:r>
              <a:rPr lang="en-US" sz="1400" dirty="0" err="1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месяцев</a:t>
            </a:r>
            <a:r>
              <a:rPr lang="en-US" sz="14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400" dirty="0">
                <a:solidFill>
                  <a:srgbClr val="5E5D56"/>
                </a:solidFill>
                <a:latin typeface="Arial" pitchFamily="34" charset="0"/>
                <a:cs typeface="Arial" pitchFamily="34" charset="-120"/>
              </a:rPr>
              <a:t>поддержки на критические </a:t>
            </a:r>
            <a:r>
              <a:rPr lang="ru-RU" sz="1400" dirty="0" err="1">
                <a:solidFill>
                  <a:srgbClr val="5E5D56"/>
                </a:solidFill>
                <a:latin typeface="Arial" pitchFamily="34" charset="0"/>
                <a:cs typeface="Arial" pitchFamily="34" charset="-120"/>
              </a:rPr>
              <a:t>неисправности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95293" y="1857347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Оплата частями: 40% </a:t>
            </a:r>
            <a:r>
              <a:rPr lang="en-US" sz="1100" dirty="0" err="1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</a:t>
            </a:r>
            <a:r>
              <a:rPr lang="en-US" sz="11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старте</a:t>
            </a:r>
            <a:r>
              <a:rPr lang="ru-RU" sz="11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при подписании договора</a:t>
            </a:r>
            <a:r>
              <a:rPr lang="en-US" sz="11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30% </a:t>
            </a:r>
            <a:r>
              <a:rPr lang="en-US" sz="1100" dirty="0" err="1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</a:t>
            </a:r>
            <a:r>
              <a:rPr lang="ru-RU" sz="11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утверждении конечного</a:t>
            </a:r>
            <a:r>
              <a:rPr lang="en-US" sz="11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макета</a:t>
            </a:r>
            <a:r>
              <a:rPr lang="en-US" sz="11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30% при запуске · Лесная ягодка · 18</a:t>
            </a:r>
            <a:br>
              <a:rPr lang="ru-RU" sz="11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br>
              <a:rPr lang="ru-RU" sz="11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endParaRPr lang="en-US" sz="11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F208F7-B3A7-17CE-4B96-460A18DA4596}"/>
              </a:ext>
            </a:extLst>
          </p:cNvPr>
          <p:cNvSpPr txBox="1"/>
          <p:nvPr/>
        </p:nvSpPr>
        <p:spPr>
          <a:xfrm>
            <a:off x="895293" y="6015420"/>
            <a:ext cx="9499979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ru-RU" sz="11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ru-RU" sz="11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желании можно собрать своего «трансформера» из штук которые вы хотите чтобы были на вашем сайте, а не просто тарифами, по цене проконсультирую отдельно</a:t>
            </a:r>
            <a:endParaRPr lang="en-AU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4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МОЖНО НАЧАТЬ С МАЛОГО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000" dirty="0">
                <a:solidFill>
                  <a:srgbClr val="2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Старт: дизайн и прототип на </a:t>
            </a:r>
            <a:r>
              <a:rPr lang="en-US" sz="5000" i="1" dirty="0">
                <a:solidFill>
                  <a:srgbClr val="4A6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вашем</a:t>
            </a:r>
            <a:r>
              <a:rPr lang="en-US" sz="5000" dirty="0">
                <a:solidFill>
                  <a:srgbClr val="2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каталоге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4904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dirty="0">
                <a:solidFill>
                  <a:srgbClr val="4A6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60 000 ₽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4846320" y="384048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2 недели: макеты главной, каталога и карточки, тексты вашим голосом. Идём дальше — сумма засчитывается в проект. Нет — макеты остаются у вас.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6263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Лесная ягодка · 19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CE7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4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СРОКИ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19" y="1005840"/>
            <a:ext cx="518705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dirty="0">
                <a:solidFill>
                  <a:srgbClr val="2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Успеть к </a:t>
            </a:r>
            <a:r>
              <a:rPr lang="en-US" sz="4000" i="1" dirty="0">
                <a:solidFill>
                  <a:srgbClr val="4A6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новогодним</a:t>
            </a:r>
            <a:r>
              <a:rPr lang="en-US" sz="4000" dirty="0">
                <a:solidFill>
                  <a:srgbClr val="2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подаркам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65176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Декабрь — месяц с самым большим чеком: наборы и корпоративные заказы. Чтобы встретить его на новом сайте, начинать нужно в октябре.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17920" y="1005840"/>
            <a:ext cx="5239512" cy="0"/>
          </a:xfrm>
          <a:prstGeom prst="line">
            <a:avLst/>
          </a:prstGeom>
          <a:noFill/>
          <a:ln w="9525">
            <a:solidFill>
              <a:srgbClr val="B9B3A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6217920" y="1188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Неделя 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863840" y="1207008"/>
            <a:ext cx="3593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Созвон, фото и reels, перенос каталога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965960"/>
            <a:ext cx="5239512" cy="0"/>
          </a:xfrm>
          <a:prstGeom prst="line">
            <a:avLst/>
          </a:prstGeom>
          <a:noFill/>
          <a:ln w="9525">
            <a:solidFill>
              <a:srgbClr val="B9B3A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217920" y="2148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Недели 2–3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863840" y="2167128"/>
            <a:ext cx="3593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Макеты и тексты, ваши правки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0" y="2926080"/>
            <a:ext cx="5239512" cy="0"/>
          </a:xfrm>
          <a:prstGeom prst="line">
            <a:avLst/>
          </a:prstGeom>
          <a:noFill/>
          <a:ln w="9525">
            <a:solidFill>
              <a:srgbClr val="B9B3A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217920" y="3108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Недели 3–6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0" y="3127248"/>
            <a:ext cx="3593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Сайт, админка, оплата, СДЭК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17920" y="3886200"/>
            <a:ext cx="5239512" cy="0"/>
          </a:xfrm>
          <a:prstGeom prst="line">
            <a:avLst/>
          </a:prstGeom>
          <a:noFill/>
          <a:ln w="9525">
            <a:solidFill>
              <a:srgbClr val="B9B3A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6217920" y="4069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Неделя 7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863840" y="4087368"/>
            <a:ext cx="3593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Тестовые заказы, обучение команды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17920" y="4846320"/>
            <a:ext cx="5239512" cy="0"/>
          </a:xfrm>
          <a:prstGeom prst="line">
            <a:avLst/>
          </a:prstGeom>
          <a:noFill/>
          <a:ln w="9525">
            <a:solidFill>
              <a:srgbClr val="B9B3A8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6217920" y="5029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Неделя 8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863840" y="5047488"/>
            <a:ext cx="3593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Запуск. Старый сайт работает до последнего дня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17920" y="5806440"/>
            <a:ext cx="5239512" cy="0"/>
          </a:xfrm>
          <a:prstGeom prst="line">
            <a:avLst/>
          </a:prstGeom>
          <a:noFill/>
          <a:ln w="9525">
            <a:solidFill>
              <a:srgbClr val="B9B3A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31520" y="6263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Лесная ягодка · 20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3736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4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НУЖНО ОТ ВАС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19456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0" dirty="0">
                <a:solidFill>
                  <a:srgbClr val="4A6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часа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490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весь проект. Остальное делаю я.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217920" y="1473504"/>
            <a:ext cx="5239512" cy="0"/>
          </a:xfrm>
          <a:prstGeom prst="line">
            <a:avLst/>
          </a:prstGeom>
          <a:noFill/>
          <a:ln w="9525">
            <a:solidFill>
              <a:srgbClr val="B9B3A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6217920" y="1631478"/>
            <a:ext cx="4142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 err="1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Созвон</a:t>
            </a:r>
            <a:r>
              <a:rPr lang="ru-RU" sz="170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/переписка</a:t>
            </a:r>
            <a:r>
              <a:rPr lang="en-US" sz="170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00" dirty="0" err="1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</a:t>
            </a:r>
            <a:r>
              <a:rPr lang="en-US" sz="170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00" dirty="0" err="1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партии</a:t>
            </a:r>
            <a:r>
              <a:rPr lang="ru-RU" sz="170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700" dirty="0" err="1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цех</a:t>
            </a:r>
            <a:r>
              <a:rPr lang="ru-RU" sz="170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подписание договора, предоставление необходимых доступов для разработки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238232" y="183721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7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&lt;2 ч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0" y="2560320"/>
            <a:ext cx="5239512" cy="0"/>
          </a:xfrm>
          <a:prstGeom prst="line">
            <a:avLst/>
          </a:prstGeom>
          <a:noFill/>
          <a:ln w="9525">
            <a:solidFill>
              <a:srgbClr val="B9B3A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217920" y="2788920"/>
            <a:ext cx="4142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 к фото и reels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0360152" y="2788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7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мин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17920" y="3383280"/>
            <a:ext cx="5239512" cy="0"/>
          </a:xfrm>
          <a:prstGeom prst="line">
            <a:avLst/>
          </a:prstGeom>
          <a:noFill/>
          <a:ln w="9525">
            <a:solidFill>
              <a:srgbClr val="B9B3A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217920" y="3611880"/>
            <a:ext cx="4142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 </a:t>
            </a:r>
            <a:r>
              <a:rPr lang="en-US" sz="1700" dirty="0" err="1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просмотра</a:t>
            </a:r>
            <a:r>
              <a:rPr lang="en-US" sz="170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00" dirty="0" err="1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макетов</a:t>
            </a:r>
            <a:r>
              <a:rPr lang="ru-RU" sz="170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(черновой и финальный перед началом разработки)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0360152" y="36118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7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ч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17920" y="4206240"/>
            <a:ext cx="5239512" cy="0"/>
          </a:xfrm>
          <a:prstGeom prst="line">
            <a:avLst/>
          </a:prstGeom>
          <a:noFill/>
          <a:ln w="9525">
            <a:solidFill>
              <a:srgbClr val="B9B3A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6217920" y="4434840"/>
            <a:ext cx="4142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 err="1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Обучение</a:t>
            </a:r>
            <a:r>
              <a:rPr lang="en-US" sz="170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00" dirty="0" err="1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команды</a:t>
            </a:r>
            <a:r>
              <a:rPr lang="en-US" sz="170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ru-RU" sz="170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дать мне список с никами кого и чему обучить, </a:t>
            </a:r>
            <a:r>
              <a:rPr lang="ru-RU" sz="1700" dirty="0" err="1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предупредить</a:t>
            </a:r>
            <a:r>
              <a:rPr lang="ru-RU" sz="170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что я буду писать. Дальше я справлюсь сама. И вас научу отдельно, если файликов, которые я пришлю с инструкциями, не хватит/формат не подойдет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0360152" y="44348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ru-RU" sz="17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</a:t>
            </a:r>
            <a:r>
              <a:rPr lang="en-US" sz="17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ч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096000" y="6366681"/>
            <a:ext cx="5239512" cy="0"/>
          </a:xfrm>
          <a:prstGeom prst="line">
            <a:avLst/>
          </a:prstGeom>
          <a:noFill/>
          <a:ln w="9525">
            <a:solidFill>
              <a:srgbClr val="B9B3A8"/>
            </a:solidFill>
            <a:prstDash val="solid"/>
          </a:ln>
        </p:spPr>
        <p:txBody>
          <a:bodyPr/>
          <a:lstStyle/>
          <a:p>
            <a:endParaRPr lang="en-AU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6263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Лесная ягодка · 21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F3A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C9D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СЛЕДУЮЩИЙ ШАГ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10241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600" dirty="0">
                <a:solidFill>
                  <a:srgbClr val="F6F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минут, чтобы решить, </a:t>
            </a:r>
            <a:r>
              <a:rPr lang="en-US" sz="5600" i="1" dirty="0">
                <a:solidFill>
                  <a:srgbClr val="F6F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подходит ли</a:t>
            </a:r>
            <a:r>
              <a:rPr lang="en-US" sz="5600" dirty="0">
                <a:solidFill>
                  <a:srgbClr val="F6F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это вам</a:t>
            </a:r>
            <a:endParaRPr lang="en-US" sz="5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114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DCE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Покажу прототип сайта и админки на вашем каталоге и отвечу на вопросы. Ни к чему не </a:t>
            </a:r>
            <a:r>
              <a:rPr lang="en-US" sz="1800" dirty="0" err="1">
                <a:solidFill>
                  <a:srgbClr val="DCE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обязывает</a:t>
            </a:r>
            <a:r>
              <a:rPr lang="en-US" sz="1800" dirty="0">
                <a:solidFill>
                  <a:srgbClr val="DCE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r>
              <a:rPr lang="ru-RU" sz="1800" dirty="0">
                <a:solidFill>
                  <a:srgbClr val="DCE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Примеры того, как может выглядеть ваш сайт и </a:t>
            </a:r>
            <a:r>
              <a:rPr lang="ru-RU" sz="1800" dirty="0" err="1">
                <a:solidFill>
                  <a:srgbClr val="DCE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админская</a:t>
            </a:r>
            <a:r>
              <a:rPr lang="ru-RU" sz="1800" dirty="0">
                <a:solidFill>
                  <a:srgbClr val="DCE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панель прислала отдельными файлами для удобства.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943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Telegram: @</a:t>
            </a:r>
            <a:r>
              <a:rPr lang="en-US" dirty="0">
                <a:solidFill>
                  <a:srgbClr val="F6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Ellischment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85432" y="5897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ru-RU" sz="2400" i="1" dirty="0">
                <a:solidFill>
                  <a:srgbClr val="C9D4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Василиса</a:t>
            </a:r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731520" y="516636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C9D4B8"/>
                </a:solidFill>
                <a:latin typeface="Arial"/>
              </a:rPr>
              <a:t>Предложение действует до 31 октября 2026.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6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731520" y="146304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DCE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ВАШИМИ СЛОВАМИ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92024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dirty="0">
                <a:solidFill>
                  <a:srgbClr val="F6F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«Уже неделю я сильно ограничиваю количество зефира, доступного к заказу. Мы не можем сделать и половины того, что у нас хотят купить»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7EC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Ваш Instagram*, август. Спрос больше, чем цех успевает сделать. Сайт должен работать с этим, а не против: партия ровно на объём цеха, а кому не хватило — место в очереди на следующую.</a:t>
            </a:r>
            <a:endParaRPr lang="en-US" sz="1800" dirty="0"/>
          </a:p>
        </p:txBody>
      </p:sp>
      <p:sp>
        <p:nvSpPr>
          <p:cNvPr id="2" name="Text 0"/>
          <p:cNvSpPr txBox="1"/>
          <p:nvPr/>
        </p:nvSpPr>
        <p:spPr>
          <a:xfrm>
            <a:off x="731520" y="621792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dirty="0">
                <a:solidFill>
                  <a:srgbClr val="DCE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Instagram принадлежит компании Meta, признанной экстремистской организацией и запрещённой в РФ.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731520" y="64008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4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ДЕЛАЕТ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058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dirty="0">
                <a:solidFill>
                  <a:srgbClr val="2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Василиса Попова, </a:t>
            </a:r>
            <a:r>
              <a:rPr lang="en-US" sz="4000" dirty="0">
                <a:solidFill>
                  <a:srgbClr val="4A6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разработчик и математик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2651760"/>
            <a:ext cx="3331464" cy="2194560"/>
          </a:xfrm>
          <a:prstGeom prst="rect">
            <a:avLst/>
          </a:prstGeom>
          <a:solidFill>
            <a:srgbClr val="F6F3EE"/>
          </a:solidFill>
          <a:ln w="12700">
            <a:solidFill>
              <a:srgbClr val="F6F3E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1051560" y="2926080"/>
            <a:ext cx="2691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«Принц и Лис»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3474720"/>
            <a:ext cx="26913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Сайт с записью и админкой для керамической студии в Москве. Заявок стало 12 в неделю вместо 5.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28744" y="2651760"/>
            <a:ext cx="3331464" cy="2194560"/>
          </a:xfrm>
          <a:prstGeom prst="rect">
            <a:avLst/>
          </a:prstGeom>
          <a:solidFill>
            <a:srgbClr val="F6F3EE"/>
          </a:solidFill>
          <a:ln w="12700">
            <a:solidFill>
              <a:srgbClr val="F6F3E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4748784" y="2926080"/>
            <a:ext cx="2691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Сначала план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748784" y="3474720"/>
            <a:ext cx="26913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первой строки кода — ТЗ, архитектура и этапы. У «Принца и Лиса» это 12 документов и 33 шага.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25968" y="2651760"/>
            <a:ext cx="3331464" cy="2194560"/>
          </a:xfrm>
          <a:prstGeom prst="rect">
            <a:avLst/>
          </a:prstGeom>
          <a:solidFill>
            <a:srgbClr val="F6F3EE"/>
          </a:solidFill>
          <a:ln w="12700">
            <a:solidFill>
              <a:srgbClr val="F6F3E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446008" y="2926080"/>
            <a:ext cx="2691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и деньги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446008" y="3474720"/>
            <a:ext cx="26913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Математика и компьютерные науки, Центральный университет. Победитель Tinkoff Datathon.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21208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Веду проект целиком: интервью, дизайн, код, сервер в России и поддержка.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6263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Лесная ягодка · 15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7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731520" y="64008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4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 ЦЕНАМИ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05840"/>
            <a:ext cx="107259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dirty="0">
                <a:solidFill>
                  <a:srgbClr val="2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 чём вы, скорее всего, </a:t>
            </a:r>
            <a:r>
              <a:rPr lang="en-US" sz="4000" dirty="0">
                <a:solidFill>
                  <a:srgbClr val="4A6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думаете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2377440"/>
            <a:ext cx="5088636" cy="0"/>
          </a:xfrm>
          <a:prstGeom prst="line">
            <a:avLst/>
          </a:prstGeom>
          <a:noFill/>
          <a:ln w="9525">
            <a:solidFill>
              <a:srgbClr val="B9B3A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31520" y="2560320"/>
            <a:ext cx="50886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«У нас и так всё раскупают»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017520"/>
            <a:ext cx="50886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Значит, спрос есть. Сайт нужен, чтобы тот же объём продавался без вашего времени, а кому не хватило, было где дождаться следующей партии.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68796" y="2377440"/>
            <a:ext cx="5088636" cy="0"/>
          </a:xfrm>
          <a:prstGeom prst="line">
            <a:avLst/>
          </a:prstGeom>
          <a:noFill/>
          <a:ln w="9525">
            <a:solidFill>
              <a:srgbClr val="B9B3A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368796" y="2560320"/>
            <a:ext cx="50886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«Я вас не знаю»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368796" y="3017520"/>
            <a:ext cx="50886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Договор с самозанятым: сроки, ТЗ и акт приёмки. Оплата по этапам, кейс — на прошлом слайде.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4206240"/>
            <a:ext cx="5088636" cy="0"/>
          </a:xfrm>
          <a:prstGeom prst="line">
            <a:avLst/>
          </a:prstGeom>
          <a:noFill/>
          <a:ln w="9525">
            <a:solidFill>
              <a:srgbClr val="B9B3A8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731520" y="4389120"/>
            <a:ext cx="50886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«Это ещё одна головная боль»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846320"/>
            <a:ext cx="50886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вас около 4 часов на весь проект. Старый сайт работает до последнего дня, перенос делаю я.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68796" y="4206240"/>
            <a:ext cx="5088636" cy="0"/>
          </a:xfrm>
          <a:prstGeom prst="line">
            <a:avLst/>
          </a:prstGeom>
          <a:noFill/>
          <a:ln w="9525">
            <a:solidFill>
              <a:srgbClr val="B9B3A8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368796" y="4389120"/>
            <a:ext cx="50886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«А если что-то пойдёт не так?»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368796" y="4846320"/>
            <a:ext cx="50886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Цена фиксируется в договоре. Домен, код и доступы к оплате и СДЭК оформлены на вас, даже если поддержку потом ведёт другой разработчик.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6263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Лесная ягодка · 16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731520" y="64008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4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ЦЕНА В КОНТЕКСТЕ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0584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4000" dirty="0">
                <a:solidFill>
                  <a:srgbClr val="2A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Для сравнения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10312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dirty="0">
                <a:solidFill>
                  <a:srgbClr val="4A6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300–800 тыс. ₽</a:t>
            </a:r>
            <a:endParaRPr lang="en-US" sz="8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490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стоит интернет-магазин с такими интеграциями у студий. Рынок: обзоры цен Artean и SEO Lebedev, 2026.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1550840"/>
            <a:ext cx="5056632" cy="0"/>
          </a:xfrm>
          <a:prstGeom prst="line">
            <a:avLst/>
          </a:prstGeom>
          <a:noFill/>
          <a:ln w="9525">
            <a:solidFill>
              <a:srgbClr val="B9B3A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6400800" y="17794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только дизайн магазина у студий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разработки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509760" y="1965960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150–350 тыс. ₽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400800" y="2971800"/>
            <a:ext cx="5056632" cy="0"/>
          </a:xfrm>
          <a:prstGeom prst="line">
            <a:avLst/>
          </a:prstGeom>
          <a:noFill/>
          <a:ln w="9525">
            <a:solidFill>
              <a:srgbClr val="B9B3A8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400800" y="31546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Лавка на автопилоте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106 коробок по 1 800 ₽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9509760" y="3200400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190 000 ₽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00800" y="4206240"/>
            <a:ext cx="5056632" cy="0"/>
          </a:xfrm>
          <a:prstGeom prst="line">
            <a:avLst/>
          </a:prstGeom>
          <a:noFill/>
          <a:ln w="9525">
            <a:solidFill>
              <a:srgbClr val="B9B3A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6400800" y="43891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Лавка и деньги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128 коробок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509760" y="4434840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A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230 000 ₽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400800" y="5440680"/>
            <a:ext cx="5056632" cy="0"/>
          </a:xfrm>
          <a:prstGeom prst="line">
            <a:avLst/>
          </a:prstGeom>
          <a:noFill/>
          <a:ln w="9525">
            <a:solidFill>
              <a:srgbClr val="B9B3A8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731520" y="6263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E5D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Лесная ягодка · 17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</TotalTime>
  <Words>1118</Words>
  <Application>Microsoft Office PowerPoint</Application>
  <PresentationFormat>Широкоэкранный</PresentationFormat>
  <Paragraphs>163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5" baseType="lpstr">
      <vt:lpstr>Arial</vt:lpstr>
      <vt:lpstr>Georgia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Лесная ягодка на автопилоте</dc:title>
  <dc:subject>PptxGenJS Presentation</dc:subject>
  <dc:creator>PptxGenJS</dc:creator>
  <cp:lastModifiedBy>Mi</cp:lastModifiedBy>
  <cp:revision>2</cp:revision>
  <dcterms:created xsi:type="dcterms:W3CDTF">2026-09-25T12:16:46Z</dcterms:created>
  <dcterms:modified xsi:type="dcterms:W3CDTF">2026-09-25T19:32:51Z</dcterms:modified>
</cp:coreProperties>
</file>